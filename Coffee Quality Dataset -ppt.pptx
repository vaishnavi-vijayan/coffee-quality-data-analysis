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6" r:id="rId8"/>
    <p:sldId id="267" r:id="rId9"/>
    <p:sldId id="262" r:id="rId10"/>
    <p:sldId id="268" r:id="rId11"/>
    <p:sldId id="269" r:id="rId12"/>
    <p:sldId id="270" r:id="rId13"/>
    <p:sldId id="263" r:id="rId14"/>
    <p:sldId id="264" r:id="rId15"/>
    <p:sldId id="271" r:id="rId16"/>
    <p:sldId id="265" r:id="rId17"/>
  </p:sldIdLst>
  <p:sldSz cx="18288000" cy="10287000"/>
  <p:notesSz cx="6858000" cy="9144000"/>
  <p:embeddedFontLst>
    <p:embeddedFont>
      <p:font typeface="Calibri" panose="020F0502020204030204" pitchFamily="34" charset="0"/>
      <p:regular r:id="rId18"/>
      <p:bold r:id="rId19"/>
      <p:italic r:id="rId20"/>
      <p:boldItalic r:id="rId21"/>
    </p:embeddedFont>
    <p:embeddedFont>
      <p:font typeface="Consolas" panose="020B0609020204030204" pitchFamily="49" charset="0"/>
      <p:regular r:id="rId22"/>
      <p:bold r:id="rId23"/>
      <p:italic r:id="rId24"/>
      <p:boldItalic r:id="rId25"/>
    </p:embeddedFont>
    <p:embeddedFont>
      <p:font typeface="Garet Bold" panose="020B0604020202020204" charset="0"/>
      <p:regular r:id="rId26"/>
    </p:embeddedFont>
    <p:embeddedFont>
      <p:font typeface="Garet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A9FFD35-0E90-42CC-ABC3-E136E258DBC5}" v="2066" dt="2025-11-28T09:33:00.4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77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20490" r="-1727"/>
            </a:stretch>
          </a:blipFill>
        </p:spPr>
      </p:sp>
      <p:sp>
        <p:nvSpPr>
          <p:cNvPr id="3" name="TextBox 3"/>
          <p:cNvSpPr txBox="1"/>
          <p:nvPr/>
        </p:nvSpPr>
        <p:spPr>
          <a:xfrm>
            <a:off x="3313564" y="3846805"/>
            <a:ext cx="12828723" cy="2913916"/>
          </a:xfrm>
          <a:prstGeom prst="rect">
            <a:avLst/>
          </a:prstGeom>
        </p:spPr>
        <p:txBody>
          <a:bodyPr lIns="0" tIns="0" rIns="0" bIns="0" rtlCol="0" anchor="t">
            <a:spAutoFit/>
          </a:bodyPr>
          <a:lstStyle/>
          <a:p>
            <a:pPr algn="l">
              <a:lnSpc>
                <a:spcPts val="11089"/>
              </a:lnSpc>
            </a:pPr>
            <a:r>
              <a:rPr lang="en-US" sz="12186" b="1" spc="-950">
                <a:solidFill>
                  <a:srgbClr val="F6E5D7"/>
                </a:solidFill>
                <a:latin typeface="Garet Bold"/>
                <a:ea typeface="Garet Bold"/>
                <a:cs typeface="Garet Bold"/>
                <a:sym typeface="Garet Bold"/>
              </a:rPr>
              <a:t>COFFEE QUALITY DATASET</a:t>
            </a:r>
          </a:p>
        </p:txBody>
      </p:sp>
      <p:sp>
        <p:nvSpPr>
          <p:cNvPr id="4" name="TextBox 4"/>
          <p:cNvSpPr txBox="1"/>
          <p:nvPr/>
        </p:nvSpPr>
        <p:spPr>
          <a:xfrm>
            <a:off x="12855552" y="7151888"/>
            <a:ext cx="4676980" cy="1613070"/>
          </a:xfrm>
          <a:prstGeom prst="rect">
            <a:avLst/>
          </a:prstGeom>
        </p:spPr>
        <p:txBody>
          <a:bodyPr wrap="square" lIns="0" tIns="0" rIns="0" bIns="0" rtlCol="0" anchor="t">
            <a:spAutoFit/>
          </a:bodyPr>
          <a:lstStyle/>
          <a:p>
            <a:pPr algn="l">
              <a:lnSpc>
                <a:spcPts val="6432"/>
              </a:lnSpc>
            </a:pPr>
            <a:r>
              <a:rPr lang="en-US" sz="4594" i="1" spc="-422">
                <a:solidFill>
                  <a:srgbClr val="F6E5D7"/>
                </a:solidFill>
                <a:latin typeface="Garet Italics"/>
                <a:ea typeface="Garet Italics"/>
                <a:cs typeface="Garet Italics"/>
                <a:sym typeface="Garet Italics"/>
              </a:rPr>
              <a:t>Presented by:</a:t>
            </a:r>
          </a:p>
          <a:p>
            <a:pPr algn="l">
              <a:lnSpc>
                <a:spcPts val="6432"/>
              </a:lnSpc>
            </a:pPr>
            <a:r>
              <a:rPr lang="en-US" sz="4594" i="1" spc="-422">
                <a:solidFill>
                  <a:srgbClr val="F6E5D7"/>
                </a:solidFill>
                <a:latin typeface="Garet Italics"/>
                <a:ea typeface="Garet Italics"/>
                <a:cs typeface="Garet Italics"/>
                <a:sym typeface="Garet Italics"/>
              </a:rPr>
              <a:t>            Vaishnavi V</a:t>
            </a:r>
          </a:p>
        </p:txBody>
      </p:sp>
      <p:grpSp>
        <p:nvGrpSpPr>
          <p:cNvPr id="10" name="Group 10"/>
          <p:cNvGrpSpPr/>
          <p:nvPr/>
        </p:nvGrpSpPr>
        <p:grpSpPr>
          <a:xfrm>
            <a:off x="-5532" y="9091069"/>
            <a:ext cx="18299064" cy="1182127"/>
            <a:chOff x="0" y="0"/>
            <a:chExt cx="5049711" cy="315769"/>
          </a:xfrm>
        </p:grpSpPr>
        <p:sp>
          <p:nvSpPr>
            <p:cNvPr id="11" name="Freeform 11"/>
            <p:cNvSpPr/>
            <p:nvPr/>
          </p:nvSpPr>
          <p:spPr>
            <a:xfrm>
              <a:off x="0" y="0"/>
              <a:ext cx="5049711" cy="315769"/>
            </a:xfrm>
            <a:custGeom>
              <a:avLst/>
              <a:gdLst/>
              <a:ahLst/>
              <a:cxnLst/>
              <a:rect l="l" t="t" r="r" b="b"/>
              <a:pathLst>
                <a:path w="5049711" h="315769">
                  <a:moveTo>
                    <a:pt x="0" y="0"/>
                  </a:moveTo>
                  <a:lnTo>
                    <a:pt x="5049711" y="0"/>
                  </a:lnTo>
                  <a:lnTo>
                    <a:pt x="5049711" y="315769"/>
                  </a:lnTo>
                  <a:lnTo>
                    <a:pt x="0" y="315769"/>
                  </a:lnTo>
                  <a:close/>
                </a:path>
              </a:pathLst>
            </a:custGeom>
            <a:solidFill>
              <a:srgbClr val="D68E4A"/>
            </a:solidFill>
          </p:spPr>
        </p:sp>
        <p:sp>
          <p:nvSpPr>
            <p:cNvPr id="12" name="TextBox 12"/>
            <p:cNvSpPr txBox="1"/>
            <p:nvPr/>
          </p:nvSpPr>
          <p:spPr>
            <a:xfrm>
              <a:off x="0" y="-28575"/>
              <a:ext cx="5049711" cy="344344"/>
            </a:xfrm>
            <a:prstGeom prst="rect">
              <a:avLst/>
            </a:prstGeom>
          </p:spPr>
          <p:txBody>
            <a:bodyPr lIns="50800" tIns="50800" rIns="50800" bIns="50800" rtlCol="0" anchor="ctr"/>
            <a:lstStyle/>
            <a:p>
              <a:pPr algn="ctr">
                <a:lnSpc>
                  <a:spcPts val="2357"/>
                </a:lnSpc>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0" y="-489275"/>
            <a:ext cx="3318513" cy="11157054"/>
            <a:chOff x="0" y="-28575"/>
            <a:chExt cx="874012" cy="2938483"/>
          </a:xfrm>
        </p:grpSpPr>
        <p:sp>
          <p:nvSpPr>
            <p:cNvPr id="3" name="Freeform 3"/>
            <p:cNvSpPr/>
            <p:nvPr/>
          </p:nvSpPr>
          <p:spPr>
            <a:xfrm>
              <a:off x="0" y="95983"/>
              <a:ext cx="874012" cy="2713580"/>
            </a:xfrm>
            <a:custGeom>
              <a:avLst/>
              <a:gdLst/>
              <a:ahLst/>
              <a:cxnLst/>
              <a:rect l="l" t="t" r="r" b="b"/>
              <a:pathLst>
                <a:path w="874012" h="2909908">
                  <a:moveTo>
                    <a:pt x="0" y="0"/>
                  </a:moveTo>
                  <a:lnTo>
                    <a:pt x="874012" y="0"/>
                  </a:lnTo>
                  <a:lnTo>
                    <a:pt x="874012" y="2909908"/>
                  </a:lnTo>
                  <a:lnTo>
                    <a:pt x="0" y="2909908"/>
                  </a:lnTo>
                  <a:close/>
                </a:path>
              </a:pathLst>
            </a:custGeom>
            <a:solidFill>
              <a:srgbClr val="D68E4A"/>
            </a:solidFill>
          </p:spPr>
        </p:sp>
        <p:sp>
          <p:nvSpPr>
            <p:cNvPr id="4" name="TextBox 4"/>
            <p:cNvSpPr txBox="1"/>
            <p:nvPr/>
          </p:nvSpPr>
          <p:spPr>
            <a:xfrm>
              <a:off x="0" y="-28575"/>
              <a:ext cx="874012" cy="2938483"/>
            </a:xfrm>
            <a:prstGeom prst="rect">
              <a:avLst/>
            </a:prstGeom>
          </p:spPr>
          <p:txBody>
            <a:bodyPr lIns="50800" tIns="50800" rIns="50800" bIns="50800" rtlCol="0" anchor="ctr"/>
            <a:lstStyle/>
            <a:p>
              <a:pPr algn="ctr">
                <a:lnSpc>
                  <a:spcPts val="2357"/>
                </a:lnSpc>
              </a:pPr>
              <a:endParaRPr/>
            </a:p>
          </p:txBody>
        </p:sp>
      </p:grpSp>
      <p:grpSp>
        <p:nvGrpSpPr>
          <p:cNvPr id="5" name="Group 5"/>
          <p:cNvGrpSpPr/>
          <p:nvPr/>
        </p:nvGrpSpPr>
        <p:grpSpPr>
          <a:xfrm>
            <a:off x="0" y="2555"/>
            <a:ext cx="18288000" cy="3129720"/>
            <a:chOff x="0" y="0"/>
            <a:chExt cx="4331020" cy="741190"/>
          </a:xfrm>
        </p:grpSpPr>
        <p:sp>
          <p:nvSpPr>
            <p:cNvPr id="6" name="Freeform 6"/>
            <p:cNvSpPr/>
            <p:nvPr/>
          </p:nvSpPr>
          <p:spPr>
            <a:xfrm>
              <a:off x="0" y="0"/>
              <a:ext cx="4331020" cy="741190"/>
            </a:xfrm>
            <a:custGeom>
              <a:avLst/>
              <a:gdLst/>
              <a:ahLst/>
              <a:cxnLst/>
              <a:rect l="l" t="t" r="r" b="b"/>
              <a:pathLst>
                <a:path w="4331020" h="741190">
                  <a:moveTo>
                    <a:pt x="0" y="0"/>
                  </a:moveTo>
                  <a:lnTo>
                    <a:pt x="4331020" y="0"/>
                  </a:lnTo>
                  <a:lnTo>
                    <a:pt x="4331020" y="741190"/>
                  </a:lnTo>
                  <a:lnTo>
                    <a:pt x="0" y="741190"/>
                  </a:lnTo>
                  <a:close/>
                </a:path>
              </a:pathLst>
            </a:custGeom>
            <a:blipFill>
              <a:blip r:embed="rId2"/>
              <a:stretch>
                <a:fillRect t="-144954" b="-144954"/>
              </a:stretch>
            </a:blipFill>
          </p:spPr>
        </p:sp>
      </p:grpSp>
      <p:sp>
        <p:nvSpPr>
          <p:cNvPr id="9" name="Title 8">
            <a:extLst>
              <a:ext uri="{FF2B5EF4-FFF2-40B4-BE49-F238E27FC236}">
                <a16:creationId xmlns:a16="http://schemas.microsoft.com/office/drawing/2014/main" id="{28C5E6F8-75E7-4E1D-F1FC-91C14EB0FF04}"/>
              </a:ext>
            </a:extLst>
          </p:cNvPr>
          <p:cNvSpPr>
            <a:spLocks noGrp="1"/>
          </p:cNvSpPr>
          <p:nvPr>
            <p:ph type="title"/>
          </p:nvPr>
        </p:nvSpPr>
        <p:spPr/>
        <p:txBody>
          <a:bodyPr>
            <a:noAutofit/>
          </a:bodyPr>
          <a:lstStyle/>
          <a:p>
            <a:r>
              <a:rPr lang="en-US" sz="8000" b="1" dirty="0">
                <a:solidFill>
                  <a:schemeClr val="bg1"/>
                </a:solidFill>
                <a:ea typeface="Calibri"/>
                <a:cs typeface="Calibri"/>
              </a:rPr>
              <a:t>OBJECTIVE</a:t>
            </a:r>
          </a:p>
        </p:txBody>
      </p:sp>
      <p:sp>
        <p:nvSpPr>
          <p:cNvPr id="10" name="Content Placeholder 9">
            <a:extLst>
              <a:ext uri="{FF2B5EF4-FFF2-40B4-BE49-F238E27FC236}">
                <a16:creationId xmlns:a16="http://schemas.microsoft.com/office/drawing/2014/main" id="{07C80B2C-DD46-EEEA-A3DF-EEB715B62B8F}"/>
              </a:ext>
            </a:extLst>
          </p:cNvPr>
          <p:cNvSpPr>
            <a:spLocks noGrp="1"/>
          </p:cNvSpPr>
          <p:nvPr>
            <p:ph idx="1"/>
          </p:nvPr>
        </p:nvSpPr>
        <p:spPr>
          <a:xfrm>
            <a:off x="457201" y="3129801"/>
            <a:ext cx="17339980" cy="6627067"/>
          </a:xfrm>
        </p:spPr>
        <p:txBody>
          <a:bodyPr vert="horz" lIns="91440" tIns="45720" rIns="91440" bIns="45720" rtlCol="0" anchor="t">
            <a:normAutofit/>
          </a:bodyPr>
          <a:lstStyle/>
          <a:p>
            <a:pPr marL="0" indent="0">
              <a:buNone/>
            </a:pPr>
            <a:endParaRPr lang="en-US" dirty="0">
              <a:solidFill>
                <a:schemeClr val="bg1"/>
              </a:solidFill>
              <a:ea typeface="+mn-lt"/>
              <a:cs typeface="+mn-lt"/>
            </a:endParaRPr>
          </a:p>
          <a:p>
            <a:pPr marL="0" indent="0">
              <a:buNone/>
            </a:pPr>
            <a:endParaRPr lang="en-US" dirty="0">
              <a:solidFill>
                <a:schemeClr val="bg1"/>
              </a:solidFill>
              <a:ea typeface="+mn-lt"/>
              <a:cs typeface="+mn-lt"/>
            </a:endParaRPr>
          </a:p>
          <a:p>
            <a:pPr marL="0" indent="0">
              <a:buNone/>
            </a:pPr>
            <a:r>
              <a:rPr lang="en-US" sz="3600" dirty="0">
                <a:solidFill>
                  <a:schemeClr val="bg1"/>
                </a:solidFill>
                <a:ea typeface="+mn-lt"/>
                <a:cs typeface="+mn-lt"/>
              </a:rPr>
              <a:t>The objective of this analysis is to comprehensively explore and understand the coffee quality dataset in order to identify the key factors that influence overall coffee quality. This includes examining the relationship between sensory, physical, and geographical attributes. The analysis aims to uncover patterns, trends, and variations within the data, segment coffees into meaningful quality groups, and generate actionable insights that can support better decision-making for coffee producers, exporters, buyers, and quality evaluators in improving cultivation practices, enhancing product consistency, and optimizing market positioning.</a:t>
            </a:r>
            <a:endParaRPr lang="en-US" sz="3600" dirty="0">
              <a:solidFill>
                <a:schemeClr val="bg1"/>
              </a:solidFill>
              <a:ea typeface="Calibri"/>
              <a:cs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sp>
        <p:nvSpPr>
          <p:cNvPr id="4" name="TextBox 4"/>
          <p:cNvSpPr txBox="1"/>
          <p:nvPr/>
        </p:nvSpPr>
        <p:spPr>
          <a:xfrm>
            <a:off x="-2216152" y="7737504"/>
            <a:ext cx="5012062" cy="2933096"/>
          </a:xfrm>
          <a:prstGeom prst="rect">
            <a:avLst/>
          </a:prstGeom>
        </p:spPr>
        <p:txBody>
          <a:bodyPr lIns="50800" tIns="50800" rIns="50800" bIns="50800" rtlCol="0" anchor="ctr"/>
          <a:lstStyle/>
          <a:p>
            <a:pPr algn="ctr">
              <a:lnSpc>
                <a:spcPts val="2357"/>
              </a:lnSpc>
            </a:pPr>
            <a:endParaRPr/>
          </a:p>
        </p:txBody>
      </p:sp>
      <p:grpSp>
        <p:nvGrpSpPr>
          <p:cNvPr id="5" name="Group 5"/>
          <p:cNvGrpSpPr/>
          <p:nvPr/>
        </p:nvGrpSpPr>
        <p:grpSpPr>
          <a:xfrm>
            <a:off x="12981115" y="3766"/>
            <a:ext cx="5298546" cy="4379977"/>
            <a:chOff x="-250785" y="242824"/>
            <a:chExt cx="1577256" cy="1065145"/>
          </a:xfrm>
        </p:grpSpPr>
        <p:sp>
          <p:nvSpPr>
            <p:cNvPr id="6" name="Freeform 6"/>
            <p:cNvSpPr/>
            <p:nvPr/>
          </p:nvSpPr>
          <p:spPr>
            <a:xfrm>
              <a:off x="-250785" y="242824"/>
              <a:ext cx="1577256" cy="1065145"/>
            </a:xfrm>
            <a:custGeom>
              <a:avLst/>
              <a:gdLst/>
              <a:ahLst/>
              <a:cxnLst/>
              <a:rect l="l" t="t" r="r" b="b"/>
              <a:pathLst>
                <a:path w="1577256" h="1065145">
                  <a:moveTo>
                    <a:pt x="0" y="0"/>
                  </a:moveTo>
                  <a:lnTo>
                    <a:pt x="1577256" y="0"/>
                  </a:lnTo>
                  <a:lnTo>
                    <a:pt x="1577256" y="1065145"/>
                  </a:lnTo>
                  <a:lnTo>
                    <a:pt x="0" y="1065145"/>
                  </a:lnTo>
                  <a:close/>
                </a:path>
              </a:pathLst>
            </a:custGeom>
            <a:blipFill>
              <a:blip r:embed="rId2"/>
              <a:stretch>
                <a:fillRect l="-775" r="-775"/>
              </a:stretch>
            </a:blipFill>
          </p:spPr>
        </p:sp>
      </p:grpSp>
      <p:sp>
        <p:nvSpPr>
          <p:cNvPr id="9" name="TextBox 9"/>
          <p:cNvSpPr txBox="1"/>
          <p:nvPr/>
        </p:nvSpPr>
        <p:spPr>
          <a:xfrm>
            <a:off x="13729447" y="-256415"/>
            <a:ext cx="4561112" cy="10691334"/>
          </a:xfrm>
          <a:prstGeom prst="rect">
            <a:avLst/>
          </a:prstGeom>
        </p:spPr>
        <p:txBody>
          <a:bodyPr lIns="50800" tIns="50800" rIns="50800" bIns="50800" rtlCol="0" anchor="ctr"/>
          <a:lstStyle/>
          <a:p>
            <a:pPr algn="ctr">
              <a:lnSpc>
                <a:spcPts val="2357"/>
              </a:lnSpc>
            </a:pPr>
            <a:endParaRPr/>
          </a:p>
        </p:txBody>
      </p:sp>
      <p:sp>
        <p:nvSpPr>
          <p:cNvPr id="21" name="Title 20">
            <a:extLst>
              <a:ext uri="{FF2B5EF4-FFF2-40B4-BE49-F238E27FC236}">
                <a16:creationId xmlns:a16="http://schemas.microsoft.com/office/drawing/2014/main" id="{246D5336-1FE3-446D-4F2A-0DA24B04F6FA}"/>
              </a:ext>
            </a:extLst>
          </p:cNvPr>
          <p:cNvSpPr>
            <a:spLocks noGrp="1"/>
          </p:cNvSpPr>
          <p:nvPr>
            <p:ph type="title"/>
          </p:nvPr>
        </p:nvSpPr>
        <p:spPr>
          <a:xfrm>
            <a:off x="457200" y="274638"/>
            <a:ext cx="16482731" cy="1143000"/>
          </a:xfrm>
        </p:spPr>
        <p:txBody>
          <a:bodyPr>
            <a:noAutofit/>
          </a:bodyPr>
          <a:lstStyle/>
          <a:p>
            <a:r>
              <a:rPr lang="en-US" sz="7200" b="1" dirty="0">
                <a:solidFill>
                  <a:schemeClr val="bg1"/>
                </a:solidFill>
                <a:ea typeface="Calibri"/>
                <a:cs typeface="Calibri"/>
              </a:rPr>
              <a:t>DATA UNDERSTANDING</a:t>
            </a:r>
          </a:p>
        </p:txBody>
      </p:sp>
      <p:sp>
        <p:nvSpPr>
          <p:cNvPr id="22" name="Content Placeholder 21">
            <a:extLst>
              <a:ext uri="{FF2B5EF4-FFF2-40B4-BE49-F238E27FC236}">
                <a16:creationId xmlns:a16="http://schemas.microsoft.com/office/drawing/2014/main" id="{5E4B61FE-4985-1A82-8097-617BE1523D36}"/>
              </a:ext>
            </a:extLst>
          </p:cNvPr>
          <p:cNvSpPr>
            <a:spLocks noGrp="1"/>
          </p:cNvSpPr>
          <p:nvPr>
            <p:ph idx="1"/>
          </p:nvPr>
        </p:nvSpPr>
        <p:spPr>
          <a:xfrm>
            <a:off x="457200" y="2205317"/>
            <a:ext cx="17424026" cy="7803683"/>
          </a:xfrm>
        </p:spPr>
        <p:txBody>
          <a:bodyPr vert="horz" lIns="91440" tIns="45720" rIns="91440" bIns="45720" rtlCol="0" anchor="t">
            <a:normAutofit/>
          </a:bodyPr>
          <a:lstStyle/>
          <a:p>
            <a:pPr marL="0" indent="0">
              <a:buNone/>
            </a:pPr>
            <a:r>
              <a:rPr lang="en-US" sz="3600" dirty="0">
                <a:solidFill>
                  <a:schemeClr val="bg1"/>
                </a:solidFill>
                <a:ea typeface="+mn-lt"/>
                <a:cs typeface="+mn-lt"/>
              </a:rPr>
              <a:t>This database contains the following information: </a:t>
            </a:r>
          </a:p>
          <a:p>
            <a:pPr marL="0" indent="0">
              <a:buNone/>
            </a:pPr>
            <a:endParaRPr lang="en-US" sz="3600" dirty="0">
              <a:solidFill>
                <a:schemeClr val="bg1"/>
              </a:solidFill>
              <a:ea typeface="+mn-lt"/>
              <a:cs typeface="+mn-lt"/>
            </a:endParaRPr>
          </a:p>
          <a:p>
            <a:pPr marL="0" indent="0">
              <a:buNone/>
            </a:pPr>
            <a:r>
              <a:rPr lang="en-US" sz="3600" dirty="0">
                <a:solidFill>
                  <a:schemeClr val="bg1"/>
                </a:solidFill>
                <a:ea typeface="+mn-lt"/>
                <a:cs typeface="+mn-lt"/>
              </a:rPr>
              <a:t>Quality Measures: Aroma, Flavor, Aftertaste, Acidity, Body,</a:t>
            </a:r>
            <a:endParaRPr lang="en-US" dirty="0">
              <a:solidFill>
                <a:schemeClr val="bg1"/>
              </a:solidFill>
              <a:ea typeface="Calibri"/>
              <a:cs typeface="Calibri"/>
            </a:endParaRPr>
          </a:p>
          <a:p>
            <a:pPr>
              <a:buNone/>
            </a:pPr>
            <a:r>
              <a:rPr lang="en-US" sz="3600" dirty="0">
                <a:solidFill>
                  <a:schemeClr val="bg1"/>
                </a:solidFill>
                <a:ea typeface="+mn-lt"/>
                <a:cs typeface="+mn-lt"/>
              </a:rPr>
              <a:t>    </a:t>
            </a:r>
            <a:r>
              <a:rPr lang="en-US" sz="3600" err="1">
                <a:solidFill>
                  <a:schemeClr val="bg1"/>
                </a:solidFill>
                <a:ea typeface="+mn-lt"/>
                <a:cs typeface="+mn-lt"/>
              </a:rPr>
              <a:t>Balance,Color</a:t>
            </a:r>
            <a:r>
              <a:rPr lang="en-US" sz="3600" dirty="0">
                <a:solidFill>
                  <a:schemeClr val="bg1"/>
                </a:solidFill>
                <a:ea typeface="+mn-lt"/>
                <a:cs typeface="+mn-lt"/>
              </a:rPr>
              <a:t>, Sweetness, </a:t>
            </a:r>
            <a:r>
              <a:rPr lang="en-US" sz="3600" err="1">
                <a:solidFill>
                  <a:schemeClr val="bg1"/>
                </a:solidFill>
                <a:ea typeface="+mn-lt"/>
                <a:cs typeface="+mn-lt"/>
              </a:rPr>
              <a:t>Clean.Cup</a:t>
            </a:r>
            <a:r>
              <a:rPr lang="en-US" sz="3600" dirty="0">
                <a:solidFill>
                  <a:schemeClr val="bg1"/>
                </a:solidFill>
                <a:ea typeface="+mn-lt"/>
                <a:cs typeface="+mn-lt"/>
              </a:rPr>
              <a:t>, Uniformity,</a:t>
            </a:r>
          </a:p>
          <a:p>
            <a:pPr marL="0" indent="0">
              <a:buNone/>
            </a:pPr>
            <a:r>
              <a:rPr lang="en-US" sz="3600" dirty="0">
                <a:solidFill>
                  <a:schemeClr val="bg1"/>
                </a:solidFill>
                <a:ea typeface="+mn-lt"/>
                <a:cs typeface="+mn-lt"/>
              </a:rPr>
              <a:t>    </a:t>
            </a:r>
            <a:r>
              <a:rPr lang="en-US" sz="3600" err="1">
                <a:solidFill>
                  <a:schemeClr val="bg1"/>
                </a:solidFill>
                <a:ea typeface="+mn-lt"/>
                <a:cs typeface="+mn-lt"/>
              </a:rPr>
              <a:t>Cupper.Points</a:t>
            </a:r>
            <a:r>
              <a:rPr lang="en-US" sz="3600" dirty="0">
                <a:solidFill>
                  <a:schemeClr val="bg1"/>
                </a:solidFill>
                <a:ea typeface="+mn-lt"/>
                <a:cs typeface="+mn-lt"/>
              </a:rPr>
              <a:t>, </a:t>
            </a:r>
            <a:r>
              <a:rPr lang="en-US" sz="3600" err="1">
                <a:solidFill>
                  <a:schemeClr val="bg1"/>
                </a:solidFill>
                <a:ea typeface="+mn-lt"/>
                <a:cs typeface="+mn-lt"/>
              </a:rPr>
              <a:t>Total.Cup.Points</a:t>
            </a:r>
            <a:endParaRPr lang="en-US" sz="3600">
              <a:solidFill>
                <a:schemeClr val="bg1"/>
              </a:solidFill>
              <a:ea typeface="+mn-lt"/>
              <a:cs typeface="+mn-lt"/>
            </a:endParaRPr>
          </a:p>
          <a:p>
            <a:pPr marL="0" indent="0">
              <a:buNone/>
            </a:pPr>
            <a:endParaRPr lang="en-US" sz="3600" dirty="0">
              <a:solidFill>
                <a:schemeClr val="bg1"/>
              </a:solidFill>
              <a:ea typeface="+mn-lt"/>
              <a:cs typeface="+mn-lt"/>
            </a:endParaRPr>
          </a:p>
          <a:p>
            <a:pPr marL="0" indent="0">
              <a:buNone/>
            </a:pPr>
            <a:r>
              <a:rPr lang="en-US" sz="3600" dirty="0">
                <a:solidFill>
                  <a:schemeClr val="bg1"/>
                </a:solidFill>
                <a:ea typeface="+mn-lt"/>
                <a:cs typeface="+mn-lt"/>
              </a:rPr>
              <a:t>Bean Metadata: Moisture, </a:t>
            </a:r>
            <a:r>
              <a:rPr lang="en-US" sz="3600" dirty="0" err="1">
                <a:solidFill>
                  <a:schemeClr val="bg1"/>
                </a:solidFill>
                <a:ea typeface="+mn-lt"/>
                <a:cs typeface="+mn-lt"/>
              </a:rPr>
              <a:t>Category.One.Defects</a:t>
            </a:r>
            <a:r>
              <a:rPr lang="en-US" sz="3600" dirty="0">
                <a:solidFill>
                  <a:schemeClr val="bg1"/>
                </a:solidFill>
                <a:ea typeface="+mn-lt"/>
                <a:cs typeface="+mn-lt"/>
              </a:rPr>
              <a:t>, </a:t>
            </a:r>
            <a:r>
              <a:rPr lang="en-US" sz="3600" dirty="0" err="1">
                <a:solidFill>
                  <a:schemeClr val="bg1"/>
                </a:solidFill>
                <a:ea typeface="+mn-lt"/>
                <a:cs typeface="+mn-lt"/>
              </a:rPr>
              <a:t>Category.Two.Defects</a:t>
            </a:r>
            <a:r>
              <a:rPr lang="en-US" sz="3600" dirty="0">
                <a:solidFill>
                  <a:schemeClr val="bg1"/>
                </a:solidFill>
                <a:ea typeface="+mn-lt"/>
                <a:cs typeface="+mn-lt"/>
              </a:rPr>
              <a:t>,</a:t>
            </a:r>
            <a:endParaRPr lang="en-US">
              <a:solidFill>
                <a:schemeClr val="bg1"/>
              </a:solidFill>
            </a:endParaRPr>
          </a:p>
          <a:p>
            <a:pPr marL="0" indent="0">
              <a:buNone/>
            </a:pPr>
            <a:r>
              <a:rPr lang="en-US" sz="3600" dirty="0">
                <a:solidFill>
                  <a:schemeClr val="bg1"/>
                </a:solidFill>
                <a:ea typeface="+mn-lt"/>
                <a:cs typeface="+mn-lt"/>
              </a:rPr>
              <a:t>    Quakers, </a:t>
            </a:r>
            <a:r>
              <a:rPr lang="en-US" sz="3600" err="1">
                <a:solidFill>
                  <a:schemeClr val="bg1"/>
                </a:solidFill>
                <a:ea typeface="+mn-lt"/>
                <a:cs typeface="+mn-lt"/>
              </a:rPr>
              <a:t>Number.of.Bags</a:t>
            </a:r>
            <a:endParaRPr lang="en-US" sz="3600" err="1">
              <a:solidFill>
                <a:schemeClr val="bg1"/>
              </a:solidFill>
              <a:ea typeface="Calibri"/>
              <a:cs typeface="Calibri"/>
            </a:endParaRPr>
          </a:p>
          <a:p>
            <a:pPr marL="0" indent="0">
              <a:buNone/>
            </a:pPr>
            <a:endParaRPr lang="en-US" sz="3600" dirty="0">
              <a:solidFill>
                <a:schemeClr val="bg1"/>
              </a:solidFill>
              <a:ea typeface="+mn-lt"/>
              <a:cs typeface="+mn-lt"/>
            </a:endParaRPr>
          </a:p>
          <a:p>
            <a:pPr marL="0" indent="0">
              <a:buNone/>
            </a:pPr>
            <a:r>
              <a:rPr lang="en-US" sz="3600" dirty="0">
                <a:solidFill>
                  <a:schemeClr val="bg1"/>
                </a:solidFill>
                <a:ea typeface="+mn-lt"/>
                <a:cs typeface="+mn-lt"/>
              </a:rPr>
              <a:t>Farm Metadata: </a:t>
            </a:r>
            <a:r>
              <a:rPr lang="en-US" sz="3600" dirty="0" err="1">
                <a:solidFill>
                  <a:schemeClr val="bg1"/>
                </a:solidFill>
                <a:ea typeface="+mn-lt"/>
                <a:cs typeface="+mn-lt"/>
              </a:rPr>
              <a:t>Country.of.Origin</a:t>
            </a:r>
            <a:r>
              <a:rPr lang="en-US" sz="3600" dirty="0">
                <a:solidFill>
                  <a:schemeClr val="bg1"/>
                </a:solidFill>
                <a:ea typeface="+mn-lt"/>
                <a:cs typeface="+mn-lt"/>
              </a:rPr>
              <a:t>, Region, </a:t>
            </a:r>
            <a:r>
              <a:rPr lang="en-US" sz="3600" dirty="0" err="1">
                <a:solidFill>
                  <a:schemeClr val="bg1"/>
                </a:solidFill>
                <a:ea typeface="+mn-lt"/>
                <a:cs typeface="+mn-lt"/>
              </a:rPr>
              <a:t>Farm.Name</a:t>
            </a:r>
            <a:r>
              <a:rPr lang="en-US" sz="3600" dirty="0">
                <a:solidFill>
                  <a:schemeClr val="bg1"/>
                </a:solidFill>
                <a:ea typeface="+mn-lt"/>
                <a:cs typeface="+mn-lt"/>
              </a:rPr>
              <a:t>, Owner,</a:t>
            </a:r>
            <a:endParaRPr lang="en-US">
              <a:solidFill>
                <a:schemeClr val="bg1"/>
              </a:solidFill>
            </a:endParaRPr>
          </a:p>
          <a:p>
            <a:pPr marL="0" indent="0">
              <a:buNone/>
            </a:pPr>
            <a:r>
              <a:rPr lang="en-US" sz="3600" dirty="0">
                <a:solidFill>
                  <a:schemeClr val="bg1"/>
                </a:solidFill>
                <a:ea typeface="+mn-lt"/>
                <a:cs typeface="+mn-lt"/>
              </a:rPr>
              <a:t>    Company, Variety, </a:t>
            </a:r>
            <a:r>
              <a:rPr lang="en-US" sz="3600" err="1">
                <a:solidFill>
                  <a:schemeClr val="bg1"/>
                </a:solidFill>
                <a:ea typeface="+mn-lt"/>
                <a:cs typeface="+mn-lt"/>
              </a:rPr>
              <a:t>Processing.Method</a:t>
            </a:r>
            <a:r>
              <a:rPr lang="en-US" sz="3600" dirty="0">
                <a:solidFill>
                  <a:schemeClr val="bg1"/>
                </a:solidFill>
                <a:ea typeface="+mn-lt"/>
                <a:cs typeface="+mn-lt"/>
              </a:rPr>
              <a:t>, Species, Mill</a:t>
            </a:r>
            <a:endParaRPr lang="en-US" sz="3600" dirty="0">
              <a:solidFill>
                <a:schemeClr val="bg1"/>
              </a:solidFill>
              <a:ea typeface="Calibri"/>
              <a:cs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5" name="Group 5"/>
          <p:cNvGrpSpPr/>
          <p:nvPr/>
        </p:nvGrpSpPr>
        <p:grpSpPr>
          <a:xfrm>
            <a:off x="9150610" y="7501989"/>
            <a:ext cx="2005120" cy="2790649"/>
            <a:chOff x="0" y="0"/>
            <a:chExt cx="528098" cy="734986"/>
          </a:xfrm>
        </p:grpSpPr>
        <p:sp>
          <p:nvSpPr>
            <p:cNvPr id="6" name="Freeform 6"/>
            <p:cNvSpPr/>
            <p:nvPr/>
          </p:nvSpPr>
          <p:spPr>
            <a:xfrm>
              <a:off x="0" y="0"/>
              <a:ext cx="528098" cy="734986"/>
            </a:xfrm>
            <a:custGeom>
              <a:avLst/>
              <a:gdLst/>
              <a:ahLst/>
              <a:cxnLst/>
              <a:rect l="l" t="t" r="r" b="b"/>
              <a:pathLst>
                <a:path w="528098" h="734986">
                  <a:moveTo>
                    <a:pt x="0" y="0"/>
                  </a:moveTo>
                  <a:lnTo>
                    <a:pt x="528098" y="0"/>
                  </a:lnTo>
                  <a:lnTo>
                    <a:pt x="528098" y="734986"/>
                  </a:lnTo>
                  <a:lnTo>
                    <a:pt x="0" y="734986"/>
                  </a:lnTo>
                  <a:close/>
                </a:path>
              </a:pathLst>
            </a:custGeom>
            <a:solidFill>
              <a:srgbClr val="D68E4A"/>
            </a:solidFill>
          </p:spPr>
        </p:sp>
        <p:sp>
          <p:nvSpPr>
            <p:cNvPr id="7" name="TextBox 7"/>
            <p:cNvSpPr txBox="1"/>
            <p:nvPr/>
          </p:nvSpPr>
          <p:spPr>
            <a:xfrm>
              <a:off x="0" y="-28575"/>
              <a:ext cx="528098" cy="763561"/>
            </a:xfrm>
            <a:prstGeom prst="rect">
              <a:avLst/>
            </a:prstGeom>
          </p:spPr>
          <p:txBody>
            <a:bodyPr lIns="50800" tIns="50800" rIns="50800" bIns="50800" rtlCol="0" anchor="ctr"/>
            <a:lstStyle/>
            <a:p>
              <a:pPr algn="ctr">
                <a:lnSpc>
                  <a:spcPts val="2357"/>
                </a:lnSpc>
              </a:pPr>
              <a:endParaRPr/>
            </a:p>
          </p:txBody>
        </p:sp>
      </p:grpSp>
      <p:grpSp>
        <p:nvGrpSpPr>
          <p:cNvPr id="8" name="Group 8"/>
          <p:cNvGrpSpPr/>
          <p:nvPr/>
        </p:nvGrpSpPr>
        <p:grpSpPr>
          <a:xfrm>
            <a:off x="16277696" y="1658223"/>
            <a:ext cx="2005120" cy="1556601"/>
            <a:chOff x="0" y="0"/>
            <a:chExt cx="528098" cy="409969"/>
          </a:xfrm>
        </p:grpSpPr>
        <p:sp>
          <p:nvSpPr>
            <p:cNvPr id="9" name="Freeform 9"/>
            <p:cNvSpPr/>
            <p:nvPr/>
          </p:nvSpPr>
          <p:spPr>
            <a:xfrm>
              <a:off x="0" y="0"/>
              <a:ext cx="528098" cy="409969"/>
            </a:xfrm>
            <a:custGeom>
              <a:avLst/>
              <a:gdLst/>
              <a:ahLst/>
              <a:cxnLst/>
              <a:rect l="l" t="t" r="r" b="b"/>
              <a:pathLst>
                <a:path w="528098" h="409969">
                  <a:moveTo>
                    <a:pt x="0" y="0"/>
                  </a:moveTo>
                  <a:lnTo>
                    <a:pt x="528098" y="0"/>
                  </a:lnTo>
                  <a:lnTo>
                    <a:pt x="528098" y="409969"/>
                  </a:lnTo>
                  <a:lnTo>
                    <a:pt x="0" y="409969"/>
                  </a:lnTo>
                  <a:close/>
                </a:path>
              </a:pathLst>
            </a:custGeom>
            <a:solidFill>
              <a:srgbClr val="D68E4A"/>
            </a:solidFill>
          </p:spPr>
        </p:sp>
        <p:sp>
          <p:nvSpPr>
            <p:cNvPr id="10" name="TextBox 10"/>
            <p:cNvSpPr txBox="1"/>
            <p:nvPr/>
          </p:nvSpPr>
          <p:spPr>
            <a:xfrm>
              <a:off x="0" y="-28575"/>
              <a:ext cx="528098" cy="438544"/>
            </a:xfrm>
            <a:prstGeom prst="rect">
              <a:avLst/>
            </a:prstGeom>
          </p:spPr>
          <p:txBody>
            <a:bodyPr lIns="50800" tIns="50800" rIns="50800" bIns="50800" rtlCol="0" anchor="ctr"/>
            <a:lstStyle/>
            <a:p>
              <a:pPr algn="ctr">
                <a:lnSpc>
                  <a:spcPts val="2357"/>
                </a:lnSpc>
              </a:pPr>
              <a:endParaRPr/>
            </a:p>
          </p:txBody>
        </p:sp>
      </p:grpSp>
      <p:grpSp>
        <p:nvGrpSpPr>
          <p:cNvPr id="11" name="Group 11"/>
          <p:cNvGrpSpPr/>
          <p:nvPr/>
        </p:nvGrpSpPr>
        <p:grpSpPr>
          <a:xfrm>
            <a:off x="9715635" y="2103087"/>
            <a:ext cx="7543665" cy="7155213"/>
            <a:chOff x="0" y="0"/>
            <a:chExt cx="1577256" cy="1496037"/>
          </a:xfrm>
        </p:grpSpPr>
        <p:sp>
          <p:nvSpPr>
            <p:cNvPr id="12" name="Freeform 12"/>
            <p:cNvSpPr/>
            <p:nvPr/>
          </p:nvSpPr>
          <p:spPr>
            <a:xfrm>
              <a:off x="0" y="0"/>
              <a:ext cx="1577256" cy="1496037"/>
            </a:xfrm>
            <a:custGeom>
              <a:avLst/>
              <a:gdLst/>
              <a:ahLst/>
              <a:cxnLst/>
              <a:rect l="l" t="t" r="r" b="b"/>
              <a:pathLst>
                <a:path w="1577256" h="1496037">
                  <a:moveTo>
                    <a:pt x="0" y="0"/>
                  </a:moveTo>
                  <a:lnTo>
                    <a:pt x="1577256" y="0"/>
                  </a:lnTo>
                  <a:lnTo>
                    <a:pt x="1577256" y="1496037"/>
                  </a:lnTo>
                  <a:lnTo>
                    <a:pt x="0" y="1496037"/>
                  </a:lnTo>
                  <a:close/>
                </a:path>
              </a:pathLst>
            </a:custGeom>
            <a:blipFill>
              <a:blip r:embed="rId2"/>
              <a:stretch>
                <a:fillRect t="-58143"/>
              </a:stretch>
            </a:blipFill>
          </p:spPr>
        </p:sp>
      </p:grpSp>
      <p:sp>
        <p:nvSpPr>
          <p:cNvPr id="13" name="TextBox 13"/>
          <p:cNvSpPr txBox="1"/>
          <p:nvPr/>
        </p:nvSpPr>
        <p:spPr>
          <a:xfrm>
            <a:off x="3768537" y="597638"/>
            <a:ext cx="9855492" cy="1065676"/>
          </a:xfrm>
          <a:prstGeom prst="rect">
            <a:avLst/>
          </a:prstGeom>
        </p:spPr>
        <p:txBody>
          <a:bodyPr wrap="square" lIns="0" tIns="0" rIns="0" bIns="0" rtlCol="0" anchor="t">
            <a:spAutoFit/>
          </a:bodyPr>
          <a:lstStyle/>
          <a:p>
            <a:pPr>
              <a:lnSpc>
                <a:spcPts val="7734"/>
              </a:lnSpc>
            </a:pPr>
            <a:r>
              <a:rPr lang="en-US" sz="8450" b="1" spc="-662" dirty="0">
                <a:solidFill>
                  <a:srgbClr val="F6E5D7"/>
                </a:solidFill>
                <a:latin typeface="Garet Bold"/>
                <a:ea typeface="Garet Bold"/>
                <a:cs typeface="Garet Bold"/>
              </a:rPr>
              <a:t>DATA  CLEANING</a:t>
            </a:r>
          </a:p>
        </p:txBody>
      </p:sp>
      <p:sp>
        <p:nvSpPr>
          <p:cNvPr id="26" name="Content Placeholder 25">
            <a:extLst>
              <a:ext uri="{FF2B5EF4-FFF2-40B4-BE49-F238E27FC236}">
                <a16:creationId xmlns:a16="http://schemas.microsoft.com/office/drawing/2014/main" id="{1F1C3204-CF6F-122E-7B70-9CAA9C2A5720}"/>
              </a:ext>
            </a:extLst>
          </p:cNvPr>
          <p:cNvSpPr>
            <a:spLocks noGrp="1"/>
          </p:cNvSpPr>
          <p:nvPr>
            <p:ph idx="1"/>
          </p:nvPr>
        </p:nvSpPr>
        <p:spPr>
          <a:xfrm>
            <a:off x="255494" y="1684244"/>
            <a:ext cx="9154085" cy="7803684"/>
          </a:xfrm>
        </p:spPr>
        <p:txBody>
          <a:bodyPr vert="horz" lIns="91440" tIns="45720" rIns="91440" bIns="45720" rtlCol="0" anchor="t">
            <a:normAutofit/>
          </a:bodyPr>
          <a:lstStyle/>
          <a:p>
            <a:endParaRPr lang="en-US" sz="3600" dirty="0">
              <a:solidFill>
                <a:schemeClr val="bg1"/>
              </a:solidFill>
              <a:ea typeface="+mn-lt"/>
              <a:cs typeface="+mn-lt"/>
            </a:endParaRPr>
          </a:p>
          <a:p>
            <a:r>
              <a:rPr lang="en-US" sz="3600" dirty="0">
                <a:solidFill>
                  <a:schemeClr val="bg1"/>
                </a:solidFill>
                <a:ea typeface="+mn-lt"/>
                <a:cs typeface="+mn-lt"/>
              </a:rPr>
              <a:t> Found out the percentage of missing values in each column corresponding to total number of records.</a:t>
            </a:r>
            <a:endParaRPr lang="en-US" dirty="0">
              <a:solidFill>
                <a:schemeClr val="bg1"/>
              </a:solidFill>
            </a:endParaRPr>
          </a:p>
          <a:p>
            <a:r>
              <a:rPr lang="en-US" sz="3600" dirty="0">
                <a:solidFill>
                  <a:schemeClr val="bg1"/>
                </a:solidFill>
                <a:ea typeface="Calibri"/>
                <a:cs typeface="Calibri"/>
              </a:rPr>
              <a:t>Dropped the column , which not useful for the analysis.</a:t>
            </a:r>
          </a:p>
          <a:p>
            <a:r>
              <a:rPr lang="en-US" sz="3600" dirty="0">
                <a:solidFill>
                  <a:schemeClr val="bg1"/>
                </a:solidFill>
                <a:ea typeface="+mn-lt"/>
                <a:cs typeface="+mn-lt"/>
              </a:rPr>
              <a:t>Found out the unique values of each columns in the </a:t>
            </a:r>
            <a:r>
              <a:rPr lang="en-US" sz="3600" dirty="0" err="1">
                <a:solidFill>
                  <a:schemeClr val="bg1"/>
                </a:solidFill>
                <a:ea typeface="+mn-lt"/>
                <a:cs typeface="+mn-lt"/>
              </a:rPr>
              <a:t>dataframe</a:t>
            </a:r>
            <a:r>
              <a:rPr lang="en-US" sz="3600" dirty="0">
                <a:solidFill>
                  <a:schemeClr val="bg1"/>
                </a:solidFill>
                <a:ea typeface="+mn-lt"/>
                <a:cs typeface="+mn-lt"/>
              </a:rPr>
              <a:t>.</a:t>
            </a:r>
          </a:p>
          <a:p>
            <a:r>
              <a:rPr lang="en-US" sz="3600" dirty="0">
                <a:solidFill>
                  <a:schemeClr val="bg1"/>
                </a:solidFill>
                <a:ea typeface="Calibri"/>
                <a:cs typeface="Calibri"/>
              </a:rPr>
              <a:t>Handled missing values by either filling or dropping them.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4" name="Group 4"/>
          <p:cNvGrpSpPr/>
          <p:nvPr/>
        </p:nvGrpSpPr>
        <p:grpSpPr>
          <a:xfrm>
            <a:off x="3289443" y="7870145"/>
            <a:ext cx="2211632" cy="2097747"/>
            <a:chOff x="0" y="0"/>
            <a:chExt cx="1577256" cy="1496037"/>
          </a:xfrm>
        </p:grpSpPr>
        <p:sp>
          <p:nvSpPr>
            <p:cNvPr id="5" name="Freeform 5"/>
            <p:cNvSpPr/>
            <p:nvPr/>
          </p:nvSpPr>
          <p:spPr>
            <a:xfrm>
              <a:off x="0" y="0"/>
              <a:ext cx="1577256" cy="1496037"/>
            </a:xfrm>
            <a:custGeom>
              <a:avLst/>
              <a:gdLst/>
              <a:ahLst/>
              <a:cxnLst/>
              <a:rect l="l" t="t" r="r" b="b"/>
              <a:pathLst>
                <a:path w="1577256" h="1496037">
                  <a:moveTo>
                    <a:pt x="0" y="0"/>
                  </a:moveTo>
                  <a:lnTo>
                    <a:pt x="1577256" y="0"/>
                  </a:lnTo>
                  <a:lnTo>
                    <a:pt x="1577256" y="1496037"/>
                  </a:lnTo>
                  <a:lnTo>
                    <a:pt x="0" y="1496037"/>
                  </a:lnTo>
                  <a:close/>
                </a:path>
              </a:pathLst>
            </a:custGeom>
            <a:blipFill>
              <a:blip r:embed="rId2"/>
              <a:stretch>
                <a:fillRect l="-21137" r="-21137"/>
              </a:stretch>
            </a:blipFill>
          </p:spPr>
        </p:sp>
      </p:grpSp>
      <p:grpSp>
        <p:nvGrpSpPr>
          <p:cNvPr id="7" name="Group 7"/>
          <p:cNvGrpSpPr/>
          <p:nvPr/>
        </p:nvGrpSpPr>
        <p:grpSpPr>
          <a:xfrm>
            <a:off x="8988687" y="7870145"/>
            <a:ext cx="2211632" cy="2097747"/>
            <a:chOff x="0" y="0"/>
            <a:chExt cx="1577256" cy="1496037"/>
          </a:xfrm>
        </p:grpSpPr>
        <p:sp>
          <p:nvSpPr>
            <p:cNvPr id="8" name="Freeform 8"/>
            <p:cNvSpPr/>
            <p:nvPr/>
          </p:nvSpPr>
          <p:spPr>
            <a:xfrm>
              <a:off x="0" y="0"/>
              <a:ext cx="1577256" cy="1496037"/>
            </a:xfrm>
            <a:custGeom>
              <a:avLst/>
              <a:gdLst/>
              <a:ahLst/>
              <a:cxnLst/>
              <a:rect l="l" t="t" r="r" b="b"/>
              <a:pathLst>
                <a:path w="1577256" h="1496037">
                  <a:moveTo>
                    <a:pt x="0" y="0"/>
                  </a:moveTo>
                  <a:lnTo>
                    <a:pt x="1577256" y="0"/>
                  </a:lnTo>
                  <a:lnTo>
                    <a:pt x="1577256" y="1496037"/>
                  </a:lnTo>
                  <a:lnTo>
                    <a:pt x="0" y="1496037"/>
                  </a:lnTo>
                  <a:close/>
                </a:path>
              </a:pathLst>
            </a:custGeom>
            <a:blipFill>
              <a:blip r:embed="rId3"/>
              <a:stretch>
                <a:fillRect t="-20200" b="-20200"/>
              </a:stretch>
            </a:blipFill>
          </p:spPr>
        </p:sp>
      </p:grpSp>
      <p:grpSp>
        <p:nvGrpSpPr>
          <p:cNvPr id="9" name="Group 9"/>
          <p:cNvGrpSpPr/>
          <p:nvPr/>
        </p:nvGrpSpPr>
        <p:grpSpPr>
          <a:xfrm>
            <a:off x="13996822" y="7870145"/>
            <a:ext cx="2211632" cy="2097747"/>
            <a:chOff x="0" y="0"/>
            <a:chExt cx="1577256" cy="1496037"/>
          </a:xfrm>
        </p:grpSpPr>
        <p:sp>
          <p:nvSpPr>
            <p:cNvPr id="10" name="Freeform 10"/>
            <p:cNvSpPr/>
            <p:nvPr/>
          </p:nvSpPr>
          <p:spPr>
            <a:xfrm>
              <a:off x="0" y="0"/>
              <a:ext cx="1577256" cy="1496037"/>
            </a:xfrm>
            <a:custGeom>
              <a:avLst/>
              <a:gdLst/>
              <a:ahLst/>
              <a:cxnLst/>
              <a:rect l="l" t="t" r="r" b="b"/>
              <a:pathLst>
                <a:path w="1577256" h="1496037">
                  <a:moveTo>
                    <a:pt x="0" y="0"/>
                  </a:moveTo>
                  <a:lnTo>
                    <a:pt x="1577256" y="0"/>
                  </a:lnTo>
                  <a:lnTo>
                    <a:pt x="1577256" y="1496037"/>
                  </a:lnTo>
                  <a:lnTo>
                    <a:pt x="0" y="1496037"/>
                  </a:lnTo>
                  <a:close/>
                </a:path>
              </a:pathLst>
            </a:custGeom>
            <a:blipFill>
              <a:blip r:embed="rId4"/>
              <a:stretch>
                <a:fillRect l="-21182" r="-21182"/>
              </a:stretch>
            </a:blipFill>
          </p:spPr>
        </p:sp>
      </p:grpSp>
      <p:sp>
        <p:nvSpPr>
          <p:cNvPr id="19" name="Title 18">
            <a:extLst>
              <a:ext uri="{FF2B5EF4-FFF2-40B4-BE49-F238E27FC236}">
                <a16:creationId xmlns:a16="http://schemas.microsoft.com/office/drawing/2014/main" id="{24E477B1-FD25-3F05-82A0-A7108D2E910F}"/>
              </a:ext>
            </a:extLst>
          </p:cNvPr>
          <p:cNvSpPr>
            <a:spLocks noGrp="1"/>
          </p:cNvSpPr>
          <p:nvPr>
            <p:ph type="title"/>
          </p:nvPr>
        </p:nvSpPr>
        <p:spPr>
          <a:xfrm>
            <a:off x="3742473" y="5697"/>
            <a:ext cx="10071017" cy="2588071"/>
          </a:xfrm>
        </p:spPr>
        <p:txBody>
          <a:bodyPr>
            <a:normAutofit/>
          </a:bodyPr>
          <a:lstStyle/>
          <a:p>
            <a:r>
              <a:rPr lang="en-US" sz="8000" b="1" dirty="0">
                <a:solidFill>
                  <a:schemeClr val="bg1"/>
                </a:solidFill>
                <a:ea typeface="Calibri"/>
                <a:cs typeface="Calibri"/>
              </a:rPr>
              <a:t>TOOLS USED</a:t>
            </a:r>
          </a:p>
        </p:txBody>
      </p:sp>
      <p:sp>
        <p:nvSpPr>
          <p:cNvPr id="20" name="Content Placeholder 19">
            <a:extLst>
              <a:ext uri="{FF2B5EF4-FFF2-40B4-BE49-F238E27FC236}">
                <a16:creationId xmlns:a16="http://schemas.microsoft.com/office/drawing/2014/main" id="{DA6637FB-B532-C4B1-177F-3634AB9B81E7}"/>
              </a:ext>
            </a:extLst>
          </p:cNvPr>
          <p:cNvSpPr>
            <a:spLocks noGrp="1"/>
          </p:cNvSpPr>
          <p:nvPr>
            <p:ph idx="1"/>
          </p:nvPr>
        </p:nvSpPr>
        <p:spPr>
          <a:xfrm>
            <a:off x="833571" y="2594113"/>
            <a:ext cx="16291500" cy="4978095"/>
          </a:xfrm>
        </p:spPr>
        <p:txBody>
          <a:bodyPr vert="horz" lIns="91440" tIns="45720" rIns="91440" bIns="45720" rtlCol="0" anchor="t">
            <a:normAutofit/>
          </a:bodyPr>
          <a:lstStyle/>
          <a:p>
            <a:endParaRPr lang="en-US" dirty="0">
              <a:solidFill>
                <a:schemeClr val="bg1"/>
              </a:solidFill>
              <a:ea typeface="Calibri"/>
              <a:cs typeface="Calibri"/>
            </a:endParaRPr>
          </a:p>
          <a:p>
            <a:r>
              <a:rPr lang="en-US" sz="3600" dirty="0">
                <a:solidFill>
                  <a:schemeClr val="bg1"/>
                </a:solidFill>
                <a:ea typeface="Calibri"/>
                <a:cs typeface="Calibri"/>
              </a:rPr>
              <a:t>PYTHON- Used for data understanding , cleaning, analysis and visualization</a:t>
            </a:r>
          </a:p>
          <a:p>
            <a:r>
              <a:rPr lang="en-US" sz="3600" dirty="0">
                <a:solidFill>
                  <a:schemeClr val="bg1"/>
                </a:solidFill>
                <a:ea typeface="Calibri"/>
                <a:cs typeface="Calibri"/>
              </a:rPr>
              <a:t>PANDAS- It is an open-source python library for data analysis, data structures and manipulation</a:t>
            </a:r>
          </a:p>
          <a:p>
            <a:r>
              <a:rPr lang="en-US" sz="3600" dirty="0">
                <a:solidFill>
                  <a:schemeClr val="bg1"/>
                </a:solidFill>
                <a:ea typeface="Calibri"/>
                <a:cs typeface="Calibri"/>
              </a:rPr>
              <a:t>NUMPY-Mathematical and scientific computing library</a:t>
            </a:r>
          </a:p>
          <a:p>
            <a:r>
              <a:rPr lang="en-US" sz="3600" dirty="0">
                <a:solidFill>
                  <a:schemeClr val="bg1"/>
                </a:solidFill>
                <a:ea typeface="Calibri"/>
                <a:cs typeface="Calibri"/>
              </a:rPr>
              <a:t>MATPOTLIB- Create animated and interactive visualizations</a:t>
            </a:r>
          </a:p>
          <a:p>
            <a:r>
              <a:rPr lang="en-US" sz="3600" dirty="0">
                <a:solidFill>
                  <a:schemeClr val="bg1"/>
                </a:solidFill>
                <a:ea typeface="Calibri"/>
                <a:cs typeface="Calibri"/>
              </a:rPr>
              <a:t>SEABORN- Create attractive and informative statistical graphics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936" t="-40545" r="-17649"/>
            </a:stretch>
          </a:blipFill>
        </p:spPr>
      </p:sp>
      <p:sp>
        <p:nvSpPr>
          <p:cNvPr id="3" name="TextBox 3"/>
          <p:cNvSpPr txBox="1"/>
          <p:nvPr/>
        </p:nvSpPr>
        <p:spPr>
          <a:xfrm>
            <a:off x="2254526" y="543138"/>
            <a:ext cx="14891189" cy="1065676"/>
          </a:xfrm>
          <a:prstGeom prst="rect">
            <a:avLst/>
          </a:prstGeom>
        </p:spPr>
        <p:txBody>
          <a:bodyPr wrap="square" lIns="0" tIns="0" rIns="0" bIns="0" rtlCol="0" anchor="t">
            <a:spAutoFit/>
          </a:bodyPr>
          <a:lstStyle/>
          <a:p>
            <a:pPr>
              <a:lnSpc>
                <a:spcPts val="7734"/>
              </a:lnSpc>
            </a:pPr>
            <a:r>
              <a:rPr lang="en-US" sz="8450" b="1" spc="-662" dirty="0">
                <a:solidFill>
                  <a:srgbClr val="F6E5D7"/>
                </a:solidFill>
                <a:latin typeface="Garet Bold"/>
                <a:ea typeface="Garet Bold"/>
                <a:cs typeface="Garet Bold"/>
              </a:rPr>
              <a:t>DESCRIPTIVE   ANALYSIS</a:t>
            </a:r>
          </a:p>
        </p:txBody>
      </p:sp>
      <p:grpSp>
        <p:nvGrpSpPr>
          <p:cNvPr id="11" name="Group 11"/>
          <p:cNvGrpSpPr/>
          <p:nvPr/>
        </p:nvGrpSpPr>
        <p:grpSpPr>
          <a:xfrm>
            <a:off x="-189" y="-5740"/>
            <a:ext cx="662985" cy="10298480"/>
            <a:chOff x="0" y="0"/>
            <a:chExt cx="174613" cy="3078837"/>
          </a:xfrm>
        </p:grpSpPr>
        <p:sp>
          <p:nvSpPr>
            <p:cNvPr id="12" name="Freeform 12"/>
            <p:cNvSpPr/>
            <p:nvPr/>
          </p:nvSpPr>
          <p:spPr>
            <a:xfrm>
              <a:off x="0" y="0"/>
              <a:ext cx="174613" cy="3078836"/>
            </a:xfrm>
            <a:custGeom>
              <a:avLst/>
              <a:gdLst/>
              <a:ahLst/>
              <a:cxnLst/>
              <a:rect l="l" t="t" r="r" b="b"/>
              <a:pathLst>
                <a:path w="174613" h="3078836">
                  <a:moveTo>
                    <a:pt x="0" y="0"/>
                  </a:moveTo>
                  <a:lnTo>
                    <a:pt x="174613" y="0"/>
                  </a:lnTo>
                  <a:lnTo>
                    <a:pt x="174613" y="3078836"/>
                  </a:lnTo>
                  <a:lnTo>
                    <a:pt x="0" y="3078836"/>
                  </a:lnTo>
                  <a:close/>
                </a:path>
              </a:pathLst>
            </a:custGeom>
            <a:solidFill>
              <a:srgbClr val="D68E4A"/>
            </a:solidFill>
          </p:spPr>
        </p:sp>
        <p:sp>
          <p:nvSpPr>
            <p:cNvPr id="13" name="TextBox 13"/>
            <p:cNvSpPr txBox="1"/>
            <p:nvPr/>
          </p:nvSpPr>
          <p:spPr>
            <a:xfrm>
              <a:off x="0" y="-28575"/>
              <a:ext cx="174613" cy="3107412"/>
            </a:xfrm>
            <a:prstGeom prst="rect">
              <a:avLst/>
            </a:prstGeom>
          </p:spPr>
          <p:txBody>
            <a:bodyPr lIns="50800" tIns="50800" rIns="50800" bIns="50800" rtlCol="0" anchor="ctr"/>
            <a:lstStyle/>
            <a:p>
              <a:pPr algn="ctr">
                <a:lnSpc>
                  <a:spcPts val="2357"/>
                </a:lnSpc>
              </a:pPr>
              <a:endParaRPr/>
            </a:p>
          </p:txBody>
        </p:sp>
      </p:grpSp>
      <p:sp>
        <p:nvSpPr>
          <p:cNvPr id="15" name="Content Placeholder 14">
            <a:extLst>
              <a:ext uri="{FF2B5EF4-FFF2-40B4-BE49-F238E27FC236}">
                <a16:creationId xmlns:a16="http://schemas.microsoft.com/office/drawing/2014/main" id="{978CD065-E2CB-9DBB-05DB-1B9041A898B1}"/>
              </a:ext>
            </a:extLst>
          </p:cNvPr>
          <p:cNvSpPr>
            <a:spLocks noGrp="1"/>
          </p:cNvSpPr>
          <p:nvPr>
            <p:ph idx="1"/>
          </p:nvPr>
        </p:nvSpPr>
        <p:spPr>
          <a:xfrm>
            <a:off x="1583636" y="1898375"/>
            <a:ext cx="15584554" cy="8104048"/>
          </a:xfrm>
        </p:spPr>
        <p:txBody>
          <a:bodyPr vert="horz" lIns="91440" tIns="45720" rIns="91440" bIns="45720" rtlCol="0" anchor="t">
            <a:normAutofit fontScale="70000" lnSpcReduction="20000"/>
          </a:bodyPr>
          <a:lstStyle/>
          <a:p>
            <a:r>
              <a:rPr lang="en-US" sz="3600" dirty="0">
                <a:solidFill>
                  <a:schemeClr val="bg1"/>
                </a:solidFill>
                <a:latin typeface="Consolas"/>
              </a:rPr>
              <a:t>===== SUMMARY STATISTICS : QUALITY MEASURES =====
            Aroma      Flavor  Aftertaste     Acidity        Body     Balance  \
count  614.000000  614.000000  614.000000  614.000000  614.000000  614.000000   
mean     7.650651    7.499463    7.360440    7.511173    7.475537    7.472036   
std      2.429667    0.309046    0.319755    0.288097    0.268414    0.327335   
min      6.330000    6.170000    6.170000    6.250000    6.330000    6.080000   
25%      7.420000    7.330000    7.170000    7.330000    7.330000    7.250000   
50%      7.580000    7.500000    7.420000    7.500000    7.500000    7.500000   
75%      7.750000    7.670000    7.580000    7.670000    7.670000    7.670000   
max     67.350000    8.670000    8.500000    8.580000    8.420000    8.580000   
        Sweetness   </a:t>
            </a:r>
            <a:r>
              <a:rPr lang="en-US" sz="3600" dirty="0" err="1">
                <a:solidFill>
                  <a:schemeClr val="bg1"/>
                </a:solidFill>
                <a:latin typeface="Consolas"/>
              </a:rPr>
              <a:t>Clean.Cup</a:t>
            </a:r>
            <a:r>
              <a:rPr lang="en-US" sz="3600" dirty="0">
                <a:solidFill>
                  <a:schemeClr val="bg1"/>
                </a:solidFill>
                <a:latin typeface="Consolas"/>
              </a:rPr>
              <a:t>  Uniformity  </a:t>
            </a:r>
            <a:r>
              <a:rPr lang="en-US" sz="3600" dirty="0" err="1">
                <a:solidFill>
                  <a:schemeClr val="bg1"/>
                </a:solidFill>
                <a:latin typeface="Consolas"/>
              </a:rPr>
              <a:t>Cupper.Points</a:t>
            </a:r>
            <a:r>
              <a:rPr lang="en-US" sz="3600" dirty="0">
                <a:solidFill>
                  <a:schemeClr val="bg1"/>
                </a:solidFill>
                <a:latin typeface="Consolas"/>
              </a:rPr>
              <a:t>  </a:t>
            </a:r>
            <a:r>
              <a:rPr lang="en-US" sz="3600" dirty="0" err="1">
                <a:solidFill>
                  <a:schemeClr val="bg1"/>
                </a:solidFill>
                <a:latin typeface="Consolas"/>
              </a:rPr>
              <a:t>Total.Cup.Points</a:t>
            </a:r>
            <a:r>
              <a:rPr lang="en-US" sz="3600" dirty="0">
                <a:solidFill>
                  <a:schemeClr val="bg1"/>
                </a:solidFill>
                <a:latin typeface="Consolas"/>
              </a:rPr>
              <a:t>  
count  614.000000  614.000000  614.000000     614.000000        614.000000  
mean     9.902020    9.855489    9.857590       7.444479         81.931580  
std      0.524423    0.683464    0.476425       0.403747          2.659006  
min      1.330000    1.330000    6.000000       5.170000         59.830000  
25%     10.000000   10.000000   10.000000       7.250000         81.080000  
50%     10.000000   10.000000   10.000000       7.500000         82.330000  
75%     10.000000   10.000000   10.000000       7.670000         83.330000  
max     10.000000   10.000000   10.000000       8.580000         89.920000  </a:t>
            </a:r>
            <a:endParaRPr lang="en-US" sz="3600">
              <a:solidFill>
                <a:schemeClr val="bg1"/>
              </a:solidFill>
              <a:ea typeface="Calibri"/>
              <a:cs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969BCA-B8B3-7CBC-8802-84A100DAE89F}"/>
              </a:ext>
            </a:extLst>
          </p:cNvPr>
          <p:cNvSpPr>
            <a:spLocks noGrp="1"/>
          </p:cNvSpPr>
          <p:nvPr>
            <p:ph idx="1"/>
          </p:nvPr>
        </p:nvSpPr>
        <p:spPr>
          <a:xfrm>
            <a:off x="1020418" y="1070114"/>
            <a:ext cx="16694425" cy="8617569"/>
          </a:xfrm>
        </p:spPr>
        <p:txBody>
          <a:bodyPr vert="horz" lIns="91440" tIns="45720" rIns="91440" bIns="45720" rtlCol="0" anchor="t">
            <a:normAutofit fontScale="77500" lnSpcReduction="20000"/>
          </a:bodyPr>
          <a:lstStyle/>
          <a:p>
            <a:r>
              <a:rPr lang="en-US" sz="3600" dirty="0">
                <a:solidFill>
                  <a:schemeClr val="bg1"/>
                </a:solidFill>
                <a:latin typeface="Consolas"/>
              </a:rPr>
              <a:t>===== SUMMARY STATISTICS : BEAN METADATA =====
         Moisture  </a:t>
            </a:r>
            <a:r>
              <a:rPr lang="en-US" sz="3600" err="1">
                <a:solidFill>
                  <a:schemeClr val="bg1"/>
                </a:solidFill>
                <a:latin typeface="Consolas"/>
              </a:rPr>
              <a:t>Category.One.Defects</a:t>
            </a:r>
            <a:r>
              <a:rPr lang="en-US" sz="3600" dirty="0">
                <a:solidFill>
                  <a:schemeClr val="bg1"/>
                </a:solidFill>
                <a:latin typeface="Consolas"/>
              </a:rPr>
              <a:t>  </a:t>
            </a:r>
            <a:r>
              <a:rPr lang="en-US" sz="3600" err="1">
                <a:solidFill>
                  <a:schemeClr val="bg1"/>
                </a:solidFill>
                <a:latin typeface="Consolas"/>
              </a:rPr>
              <a:t>Category.Two.Defects     Quakers  \</a:t>
            </a:r>
            <a:r>
              <a:rPr lang="en-US" sz="3600" dirty="0">
                <a:solidFill>
                  <a:schemeClr val="bg1"/>
                </a:solidFill>
                <a:latin typeface="Consolas"/>
              </a:rPr>
              <a:t>
count  614.000000            614.000000            614.000000  614.000000   
mean     0.098306              0.368078              3.382736    0.216612   
std      0.037652              2.264995              5.134259    0.910507   
min      0.000000              0.000000              0.000000    0.000000   
25%      0.100000              0.000000              0.000000    0.000000   
50%      0.110000              0.000000              2.000000    0.000000   
75%      0.120000              0.000000              4.000000    0.000000   
max      0.170000             31.000000             47.000000   11.000000   
       </a:t>
            </a:r>
            <a:r>
              <a:rPr lang="en-US" sz="3600" err="1">
                <a:solidFill>
                  <a:schemeClr val="bg1"/>
                </a:solidFill>
                <a:latin typeface="Consolas"/>
              </a:rPr>
              <a:t>Number.of.Bags</a:t>
            </a:r>
            <a:r>
              <a:rPr lang="en-US" sz="3600" dirty="0" err="1">
                <a:solidFill>
                  <a:schemeClr val="bg1"/>
                </a:solidFill>
                <a:latin typeface="Consolas"/>
              </a:rPr>
              <a:t>  </a:t>
            </a:r>
            <a:r>
              <a:rPr lang="en-US" sz="3600" dirty="0">
                <a:solidFill>
                  <a:schemeClr val="bg1"/>
                </a:solidFill>
                <a:latin typeface="Consolas"/>
              </a:rPr>
              <a:t>
count      614.000000  
mean       178.879479  
std        214.958432  
min          1.000000  
25%         20.000000  
50%        250.000000  
75%        275.000000  
max       3200.000000</a:t>
            </a:r>
            <a:r>
              <a:rPr lang="en-US" sz="1000" dirty="0">
                <a:latin typeface="Consolas"/>
              </a:rPr>
              <a:t>  </a:t>
            </a:r>
            <a:endParaRPr lang="en-US" dirty="0"/>
          </a:p>
        </p:txBody>
      </p:sp>
      <p:grpSp>
        <p:nvGrpSpPr>
          <p:cNvPr id="2" name="Group 1">
            <a:extLst>
              <a:ext uri="{FF2B5EF4-FFF2-40B4-BE49-F238E27FC236}">
                <a16:creationId xmlns:a16="http://schemas.microsoft.com/office/drawing/2014/main" id="{05B7EB5F-A12F-22D9-7134-D49D52F26A54}"/>
              </a:ext>
            </a:extLst>
          </p:cNvPr>
          <p:cNvGrpSpPr/>
          <p:nvPr/>
        </p:nvGrpSpPr>
        <p:grpSpPr>
          <a:xfrm>
            <a:off x="13364000" y="5924070"/>
            <a:ext cx="2307563" cy="2588795"/>
            <a:chOff x="8858261" y="6669505"/>
            <a:chExt cx="1392775" cy="1562519"/>
          </a:xfrm>
        </p:grpSpPr>
        <p:sp>
          <p:nvSpPr>
            <p:cNvPr id="4" name="Freeform 10">
              <a:extLst>
                <a:ext uri="{FF2B5EF4-FFF2-40B4-BE49-F238E27FC236}">
                  <a16:creationId xmlns:a16="http://schemas.microsoft.com/office/drawing/2014/main" id="{469D3FE7-1AF7-63E7-A9D5-279876818760}"/>
                </a:ext>
              </a:extLst>
            </p:cNvPr>
            <p:cNvSpPr/>
            <p:nvPr/>
          </p:nvSpPr>
          <p:spPr>
            <a:xfrm>
              <a:off x="8858261" y="6669505"/>
              <a:ext cx="1392775" cy="1562519"/>
            </a:xfrm>
            <a:custGeom>
              <a:avLst/>
              <a:gdLst/>
              <a:ahLst/>
              <a:cxnLst/>
              <a:rect l="l" t="t" r="r" b="b"/>
              <a:pathLst>
                <a:path w="1392775" h="1562519">
                  <a:moveTo>
                    <a:pt x="0" y="0"/>
                  </a:moveTo>
                  <a:lnTo>
                    <a:pt x="1392775" y="0"/>
                  </a:lnTo>
                  <a:lnTo>
                    <a:pt x="1392775" y="1562519"/>
                  </a:lnTo>
                  <a:lnTo>
                    <a:pt x="0" y="1562519"/>
                  </a:lnTo>
                  <a:close/>
                </a:path>
              </a:pathLst>
            </a:custGeom>
            <a:blipFill>
              <a:blip r:embed="rId2"/>
              <a:stretch>
                <a:fillRect l="-32038" r="-32038"/>
              </a:stretch>
            </a:blipFill>
          </p:spPr>
          <p:txBody>
            <a:bodyPr/>
            <a:lstStyle/>
            <a:p>
              <a:endParaRPr lang="en-US"/>
            </a:p>
          </p:txBody>
        </p:sp>
      </p:grpSp>
      <p:grpSp>
        <p:nvGrpSpPr>
          <p:cNvPr id="5" name="Group 4">
            <a:extLst>
              <a:ext uri="{FF2B5EF4-FFF2-40B4-BE49-F238E27FC236}">
                <a16:creationId xmlns:a16="http://schemas.microsoft.com/office/drawing/2014/main" id="{9B2F66C9-E2BA-DE75-1FBA-19F26D8E2101}"/>
              </a:ext>
            </a:extLst>
          </p:cNvPr>
          <p:cNvGrpSpPr/>
          <p:nvPr/>
        </p:nvGrpSpPr>
        <p:grpSpPr>
          <a:xfrm>
            <a:off x="10531348" y="5918809"/>
            <a:ext cx="2307563" cy="2588795"/>
            <a:chOff x="8858261" y="3781896"/>
            <a:chExt cx="1392775" cy="1562519"/>
          </a:xfrm>
        </p:grpSpPr>
        <p:sp>
          <p:nvSpPr>
            <p:cNvPr id="6" name="Freeform 8">
              <a:extLst>
                <a:ext uri="{FF2B5EF4-FFF2-40B4-BE49-F238E27FC236}">
                  <a16:creationId xmlns:a16="http://schemas.microsoft.com/office/drawing/2014/main" id="{09E5967E-EF57-5065-2505-813A43E074ED}"/>
                </a:ext>
              </a:extLst>
            </p:cNvPr>
            <p:cNvSpPr/>
            <p:nvPr/>
          </p:nvSpPr>
          <p:spPr>
            <a:xfrm>
              <a:off x="8858261" y="3781896"/>
              <a:ext cx="1392775" cy="1562519"/>
            </a:xfrm>
            <a:custGeom>
              <a:avLst/>
              <a:gdLst/>
              <a:ahLst/>
              <a:cxnLst/>
              <a:rect l="l" t="t" r="r" b="b"/>
              <a:pathLst>
                <a:path w="1392775" h="1562519">
                  <a:moveTo>
                    <a:pt x="0" y="0"/>
                  </a:moveTo>
                  <a:lnTo>
                    <a:pt x="1392775" y="0"/>
                  </a:lnTo>
                  <a:lnTo>
                    <a:pt x="1392775" y="1562519"/>
                  </a:lnTo>
                  <a:lnTo>
                    <a:pt x="0" y="1562519"/>
                  </a:lnTo>
                  <a:close/>
                </a:path>
              </a:pathLst>
            </a:custGeom>
            <a:blipFill>
              <a:blip r:embed="rId3"/>
              <a:stretch>
                <a:fillRect t="-9424" b="-9424"/>
              </a:stretch>
            </a:blipFill>
          </p:spPr>
          <p:txBody>
            <a:bodyPr/>
            <a:lstStyle/>
            <a:p>
              <a:endParaRPr lang="en-US"/>
            </a:p>
          </p:txBody>
        </p:sp>
      </p:grpSp>
    </p:spTree>
    <p:extLst>
      <p:ext uri="{BB962C8B-B14F-4D97-AF65-F5344CB8AC3E}">
        <p14:creationId xmlns:p14="http://schemas.microsoft.com/office/powerpoint/2010/main" val="12381865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F056B1-EC9C-6752-2D7E-E7EFD02B7D33}"/>
              </a:ext>
            </a:extLst>
          </p:cNvPr>
          <p:cNvSpPr>
            <a:spLocks noGrp="1"/>
          </p:cNvSpPr>
          <p:nvPr>
            <p:ph idx="1"/>
          </p:nvPr>
        </p:nvSpPr>
        <p:spPr>
          <a:xfrm>
            <a:off x="2079130" y="440392"/>
            <a:ext cx="13465670" cy="8171284"/>
          </a:xfrm>
        </p:spPr>
        <p:txBody>
          <a:bodyPr vert="horz" lIns="91440" tIns="45720" rIns="91440" bIns="45720" rtlCol="0" anchor="t">
            <a:noAutofit/>
          </a:bodyPr>
          <a:lstStyle/>
          <a:p>
            <a:r>
              <a:rPr lang="en-US" sz="2800" dirty="0">
                <a:solidFill>
                  <a:schemeClr val="bg1"/>
                </a:solidFill>
                <a:latin typeface="Calibri"/>
                <a:ea typeface="Calibri"/>
                <a:cs typeface="Calibri"/>
              </a:rPr>
              <a:t>===== FARM METADATA COUNTS =====
       </a:t>
            </a:r>
            <a:r>
              <a:rPr lang="en-US" sz="2800" dirty="0" err="1">
                <a:solidFill>
                  <a:schemeClr val="bg1"/>
                </a:solidFill>
                <a:latin typeface="Calibri"/>
                <a:ea typeface="Calibri"/>
                <a:cs typeface="Calibri"/>
              </a:rPr>
              <a:t>Country.of.Origin</a:t>
            </a:r>
            <a:r>
              <a:rPr lang="en-US" sz="2800" dirty="0">
                <a:solidFill>
                  <a:schemeClr val="bg1"/>
                </a:solidFill>
                <a:latin typeface="Calibri"/>
                <a:ea typeface="Calibri"/>
                <a:cs typeface="Calibri"/>
              </a:rPr>
              <a:t>   Region </a:t>
            </a:r>
            <a:r>
              <a:rPr lang="en-US" sz="2800" dirty="0" err="1">
                <a:solidFill>
                  <a:schemeClr val="bg1"/>
                </a:solidFill>
                <a:latin typeface="Calibri"/>
                <a:ea typeface="Calibri"/>
                <a:cs typeface="Calibri"/>
              </a:rPr>
              <a:t>Farm.Name</a:t>
            </a:r>
            <a:r>
              <a:rPr lang="en-US" sz="2800" dirty="0">
                <a:solidFill>
                  <a:schemeClr val="bg1"/>
                </a:solidFill>
                <a:latin typeface="Calibri"/>
                <a:ea typeface="Calibri"/>
                <a:cs typeface="Calibri"/>
              </a:rPr>
              <a:t>                      Owner  
count                614      614       614                                         614   
unique                28      205       326                                         154   
top            Guatemala  </a:t>
            </a:r>
            <a:r>
              <a:rPr lang="en-US" sz="2800" dirty="0" err="1">
                <a:solidFill>
                  <a:schemeClr val="bg1"/>
                </a:solidFill>
                <a:latin typeface="Calibri"/>
                <a:ea typeface="Calibri"/>
                <a:cs typeface="Calibri"/>
              </a:rPr>
              <a:t>oriente</a:t>
            </a:r>
            <a:r>
              <a:rPr lang="en-US" sz="2800" dirty="0">
                <a:solidFill>
                  <a:schemeClr val="bg1"/>
                </a:solidFill>
                <a:latin typeface="Calibri"/>
                <a:ea typeface="Calibri"/>
                <a:cs typeface="Calibri"/>
              </a:rPr>
              <a:t>   various  </a:t>
            </a:r>
            <a:r>
              <a:rPr lang="en-US" sz="2800" dirty="0" err="1">
                <a:solidFill>
                  <a:schemeClr val="bg1"/>
                </a:solidFill>
                <a:latin typeface="Calibri"/>
                <a:ea typeface="Calibri"/>
                <a:cs typeface="Calibri"/>
              </a:rPr>
              <a:t>juan</a:t>
            </a:r>
            <a:r>
              <a:rPr lang="en-US" sz="2800" dirty="0">
                <a:solidFill>
                  <a:schemeClr val="bg1"/>
                </a:solidFill>
                <a:latin typeface="Calibri"/>
                <a:ea typeface="Calibri"/>
                <a:cs typeface="Calibri"/>
              </a:rPr>
              <a:t> </a:t>
            </a:r>
            <a:r>
              <a:rPr lang="en-US" sz="2800" dirty="0" err="1">
                <a:solidFill>
                  <a:schemeClr val="bg1"/>
                </a:solidFill>
                <a:latin typeface="Calibri"/>
                <a:ea typeface="Calibri"/>
                <a:cs typeface="Calibri"/>
              </a:rPr>
              <a:t>luis</a:t>
            </a:r>
            <a:r>
              <a:rPr lang="en-US" sz="2800" dirty="0">
                <a:solidFill>
                  <a:schemeClr val="bg1"/>
                </a:solidFill>
                <a:latin typeface="Calibri"/>
                <a:ea typeface="Calibri"/>
                <a:cs typeface="Calibri"/>
              </a:rPr>
              <a:t> </a:t>
            </a:r>
            <a:r>
              <a:rPr lang="en-US" sz="2800" dirty="0" err="1">
                <a:solidFill>
                  <a:schemeClr val="bg1"/>
                </a:solidFill>
                <a:latin typeface="Calibri"/>
                <a:ea typeface="Calibri"/>
                <a:cs typeface="Calibri"/>
              </a:rPr>
              <a:t>alvarado</a:t>
            </a:r>
            <a:r>
              <a:rPr lang="en-US" sz="2800" dirty="0">
                <a:solidFill>
                  <a:schemeClr val="bg1"/>
                </a:solidFill>
                <a:latin typeface="Calibri"/>
                <a:ea typeface="Calibri"/>
                <a:cs typeface="Calibri"/>
              </a:rPr>
              <a:t> </a:t>
            </a:r>
            <a:r>
              <a:rPr lang="en-US" sz="2800" dirty="0" err="1">
                <a:solidFill>
                  <a:schemeClr val="bg1"/>
                </a:solidFill>
                <a:latin typeface="Calibri"/>
                <a:ea typeface="Calibri"/>
                <a:cs typeface="Calibri"/>
              </a:rPr>
              <a:t>romero</a:t>
            </a:r>
            <a:r>
              <a:rPr lang="en-US" sz="2800" dirty="0">
                <a:solidFill>
                  <a:schemeClr val="bg1"/>
                </a:solidFill>
                <a:latin typeface="Calibri"/>
                <a:ea typeface="Calibri"/>
                <a:cs typeface="Calibri"/>
              </a:rPr>
              <a:t>   
</a:t>
            </a:r>
            <a:r>
              <a:rPr lang="en-US" sz="2800" dirty="0" err="1">
                <a:solidFill>
                  <a:schemeClr val="bg1"/>
                </a:solidFill>
                <a:latin typeface="Calibri"/>
                <a:ea typeface="Calibri"/>
                <a:cs typeface="Calibri"/>
              </a:rPr>
              <a:t>freq</a:t>
            </a:r>
            <a:r>
              <a:rPr lang="en-US" sz="2800" dirty="0">
                <a:solidFill>
                  <a:schemeClr val="bg1"/>
                </a:solidFill>
                <a:latin typeface="Calibri"/>
                <a:ea typeface="Calibri"/>
                <a:cs typeface="Calibri"/>
              </a:rPr>
              <a:t>                 146       65        37                                                134   
                          Company          Variety          </a:t>
            </a:r>
            <a:r>
              <a:rPr lang="en-US" sz="2800" dirty="0" err="1">
                <a:solidFill>
                  <a:schemeClr val="bg1"/>
                </a:solidFill>
                <a:latin typeface="Calibri"/>
                <a:ea typeface="Calibri"/>
                <a:cs typeface="Calibri"/>
              </a:rPr>
              <a:t>Processing.Method</a:t>
            </a:r>
            <a:r>
              <a:rPr lang="en-US" sz="2800" dirty="0">
                <a:solidFill>
                  <a:schemeClr val="bg1"/>
                </a:solidFill>
                <a:latin typeface="Calibri"/>
                <a:ea typeface="Calibri"/>
                <a:cs typeface="Calibri"/>
              </a:rPr>
              <a:t>  Species  
count                    614                  614                           614                     614   
unique                   179                   22                             5                         2   
top     </a:t>
            </a:r>
            <a:r>
              <a:rPr lang="en-US" sz="2800" dirty="0" err="1">
                <a:solidFill>
                  <a:schemeClr val="bg1"/>
                </a:solidFill>
                <a:latin typeface="Calibri"/>
                <a:ea typeface="Calibri"/>
                <a:cs typeface="Calibri"/>
              </a:rPr>
              <a:t>unex</a:t>
            </a:r>
            <a:r>
              <a:rPr lang="en-US" sz="2800" dirty="0">
                <a:solidFill>
                  <a:schemeClr val="bg1"/>
                </a:solidFill>
                <a:latin typeface="Calibri"/>
                <a:ea typeface="Calibri"/>
                <a:cs typeface="Calibri"/>
              </a:rPr>
              <a:t> </a:t>
            </a:r>
            <a:r>
              <a:rPr lang="en-US" sz="2800" dirty="0" err="1">
                <a:solidFill>
                  <a:schemeClr val="bg1"/>
                </a:solidFill>
                <a:latin typeface="Calibri"/>
                <a:ea typeface="Calibri"/>
                <a:cs typeface="Calibri"/>
              </a:rPr>
              <a:t>guatemala</a:t>
            </a:r>
            <a:r>
              <a:rPr lang="en-US" sz="2800" dirty="0">
                <a:solidFill>
                  <a:schemeClr val="bg1"/>
                </a:solidFill>
                <a:latin typeface="Calibri"/>
                <a:ea typeface="Calibri"/>
                <a:cs typeface="Calibri"/>
              </a:rPr>
              <a:t>, s.a.     Bourbon      Washed / Wet      ,    Arabica   
</a:t>
            </a:r>
            <a:r>
              <a:rPr lang="en-US" sz="2800" dirty="0" err="1">
                <a:solidFill>
                  <a:schemeClr val="bg1"/>
                </a:solidFill>
                <a:latin typeface="Calibri"/>
                <a:ea typeface="Calibri"/>
                <a:cs typeface="Calibri"/>
              </a:rPr>
              <a:t>freq</a:t>
            </a:r>
            <a:r>
              <a:rPr lang="en-US" sz="2800" dirty="0">
                <a:solidFill>
                  <a:schemeClr val="bg1"/>
                </a:solidFill>
                <a:latin typeface="Calibri"/>
                <a:ea typeface="Calibri"/>
                <a:cs typeface="Calibri"/>
              </a:rPr>
              <a:t>                      73                        165                  448                            611   
                       Mill  
count             614  
unique           279  
top          </a:t>
            </a:r>
            <a:r>
              <a:rPr lang="en-US" sz="2800" dirty="0" err="1">
                <a:solidFill>
                  <a:schemeClr val="bg1"/>
                </a:solidFill>
                <a:latin typeface="Calibri"/>
                <a:ea typeface="Calibri"/>
                <a:cs typeface="Calibri"/>
              </a:rPr>
              <a:t>beneficio</a:t>
            </a:r>
            <a:r>
              <a:rPr lang="en-US" sz="2800" dirty="0">
                <a:solidFill>
                  <a:schemeClr val="bg1"/>
                </a:solidFill>
                <a:latin typeface="Calibri"/>
                <a:ea typeface="Calibri"/>
                <a:cs typeface="Calibri"/>
              </a:rPr>
              <a:t> </a:t>
            </a:r>
            <a:r>
              <a:rPr lang="en-US" sz="2800" dirty="0" err="1">
                <a:solidFill>
                  <a:schemeClr val="bg1"/>
                </a:solidFill>
                <a:latin typeface="Calibri"/>
                <a:ea typeface="Calibri"/>
                <a:cs typeface="Calibri"/>
              </a:rPr>
              <a:t>ixchel</a:t>
            </a:r>
            <a:r>
              <a:rPr lang="en-US" sz="2800" dirty="0">
                <a:solidFill>
                  <a:schemeClr val="bg1"/>
                </a:solidFill>
                <a:latin typeface="Calibri"/>
                <a:ea typeface="Calibri"/>
                <a:cs typeface="Calibri"/>
              </a:rPr>
              <a:t>  
</a:t>
            </a:r>
            <a:r>
              <a:rPr lang="en-US" sz="2800" dirty="0" err="1">
                <a:solidFill>
                  <a:schemeClr val="bg1"/>
                </a:solidFill>
                <a:latin typeface="Calibri"/>
                <a:ea typeface="Calibri"/>
                <a:cs typeface="Calibri"/>
              </a:rPr>
              <a:t>freq</a:t>
            </a:r>
            <a:r>
              <a:rPr lang="en-US" sz="2800" dirty="0">
                <a:solidFill>
                  <a:schemeClr val="bg1"/>
                </a:solidFill>
                <a:latin typeface="Calibri"/>
                <a:ea typeface="Calibri"/>
                <a:cs typeface="Calibri"/>
              </a:rPr>
              <a:t>                  76  </a:t>
            </a:r>
          </a:p>
        </p:txBody>
      </p:sp>
      <p:grpSp>
        <p:nvGrpSpPr>
          <p:cNvPr id="2" name="Group 1">
            <a:extLst>
              <a:ext uri="{FF2B5EF4-FFF2-40B4-BE49-F238E27FC236}">
                <a16:creationId xmlns:a16="http://schemas.microsoft.com/office/drawing/2014/main" id="{A3C51DDC-F9F1-5D17-E698-14926EB7509A}"/>
              </a:ext>
            </a:extLst>
          </p:cNvPr>
          <p:cNvGrpSpPr/>
          <p:nvPr/>
        </p:nvGrpSpPr>
        <p:grpSpPr>
          <a:xfrm>
            <a:off x="0" y="8379430"/>
            <a:ext cx="15492090" cy="1901278"/>
            <a:chOff x="0" y="9669580"/>
            <a:chExt cx="4080221" cy="500748"/>
          </a:xfrm>
        </p:grpSpPr>
        <p:sp>
          <p:nvSpPr>
            <p:cNvPr id="4" name="Freeform 12">
              <a:extLst>
                <a:ext uri="{FF2B5EF4-FFF2-40B4-BE49-F238E27FC236}">
                  <a16:creationId xmlns:a16="http://schemas.microsoft.com/office/drawing/2014/main" id="{90044A00-916F-0D08-BACB-C0AA48F9BF42}"/>
                </a:ext>
              </a:extLst>
            </p:cNvPr>
            <p:cNvSpPr/>
            <p:nvPr/>
          </p:nvSpPr>
          <p:spPr>
            <a:xfrm>
              <a:off x="0" y="9698155"/>
              <a:ext cx="4080221" cy="472173"/>
            </a:xfrm>
            <a:custGeom>
              <a:avLst/>
              <a:gdLst/>
              <a:ahLst/>
              <a:cxnLst/>
              <a:rect l="l" t="t" r="r" b="b"/>
              <a:pathLst>
                <a:path w="4080221" h="472173">
                  <a:moveTo>
                    <a:pt x="0" y="0"/>
                  </a:moveTo>
                  <a:lnTo>
                    <a:pt x="4080221" y="0"/>
                  </a:lnTo>
                  <a:lnTo>
                    <a:pt x="4080221" y="472173"/>
                  </a:lnTo>
                  <a:lnTo>
                    <a:pt x="0" y="472173"/>
                  </a:lnTo>
                  <a:close/>
                </a:path>
              </a:pathLst>
            </a:custGeom>
            <a:solidFill>
              <a:srgbClr val="D68E4A"/>
            </a:solidFill>
          </p:spPr>
          <p:txBody>
            <a:bodyPr/>
            <a:lstStyle/>
            <a:p>
              <a:endParaRPr lang="en-US"/>
            </a:p>
          </p:txBody>
        </p:sp>
        <p:sp>
          <p:nvSpPr>
            <p:cNvPr id="5" name="TextBox 13">
              <a:extLst>
                <a:ext uri="{FF2B5EF4-FFF2-40B4-BE49-F238E27FC236}">
                  <a16:creationId xmlns:a16="http://schemas.microsoft.com/office/drawing/2014/main" id="{5C12EF64-272C-1490-88D5-1F54BC31BCEB}"/>
                </a:ext>
              </a:extLst>
            </p:cNvPr>
            <p:cNvSpPr txBox="1"/>
            <p:nvPr/>
          </p:nvSpPr>
          <p:spPr>
            <a:xfrm>
              <a:off x="0" y="9669580"/>
              <a:ext cx="4080221" cy="500748"/>
            </a:xfrm>
            <a:prstGeom prst="rect">
              <a:avLst/>
            </a:prstGeom>
          </p:spPr>
          <p:txBody>
            <a:bodyPr lIns="50800" tIns="50800" rIns="50800" bIns="508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lnSpc>
                  <a:spcPts val="2357"/>
                </a:lnSpc>
              </a:pPr>
              <a:endParaRPr/>
            </a:p>
          </p:txBody>
        </p:sp>
      </p:grpSp>
    </p:spTree>
    <p:extLst>
      <p:ext uri="{BB962C8B-B14F-4D97-AF65-F5344CB8AC3E}">
        <p14:creationId xmlns:p14="http://schemas.microsoft.com/office/powerpoint/2010/main" val="4100486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sp>
        <p:nvSpPr>
          <p:cNvPr id="4" name="TextBox 4"/>
          <p:cNvSpPr txBox="1"/>
          <p:nvPr/>
        </p:nvSpPr>
        <p:spPr>
          <a:xfrm>
            <a:off x="14318760" y="7824044"/>
            <a:ext cx="10683114" cy="12451030"/>
          </a:xfrm>
          <a:prstGeom prst="rect">
            <a:avLst/>
          </a:prstGeom>
        </p:spPr>
        <p:txBody>
          <a:bodyPr lIns="50800" tIns="50800" rIns="50800" bIns="50800" rtlCol="0" anchor="ctr"/>
          <a:lstStyle/>
          <a:p>
            <a:pPr algn="ctr">
              <a:lnSpc>
                <a:spcPts val="2357"/>
              </a:lnSpc>
            </a:pPr>
            <a:endParaRPr/>
          </a:p>
        </p:txBody>
      </p:sp>
      <p:grpSp>
        <p:nvGrpSpPr>
          <p:cNvPr id="5" name="Group 5"/>
          <p:cNvGrpSpPr/>
          <p:nvPr/>
        </p:nvGrpSpPr>
        <p:grpSpPr>
          <a:xfrm>
            <a:off x="12405263" y="3500287"/>
            <a:ext cx="5881080" cy="5476404"/>
            <a:chOff x="0" y="0"/>
            <a:chExt cx="1392775" cy="1296939"/>
          </a:xfrm>
        </p:grpSpPr>
        <p:sp>
          <p:nvSpPr>
            <p:cNvPr id="6" name="Freeform 6"/>
            <p:cNvSpPr/>
            <p:nvPr/>
          </p:nvSpPr>
          <p:spPr>
            <a:xfrm>
              <a:off x="0" y="0"/>
              <a:ext cx="1392775" cy="1296939"/>
            </a:xfrm>
            <a:custGeom>
              <a:avLst/>
              <a:gdLst/>
              <a:ahLst/>
              <a:cxnLst/>
              <a:rect l="l" t="t" r="r" b="b"/>
              <a:pathLst>
                <a:path w="1392775" h="1296939">
                  <a:moveTo>
                    <a:pt x="0" y="0"/>
                  </a:moveTo>
                  <a:lnTo>
                    <a:pt x="1392775" y="0"/>
                  </a:lnTo>
                  <a:lnTo>
                    <a:pt x="1392775" y="1296939"/>
                  </a:lnTo>
                  <a:lnTo>
                    <a:pt x="0" y="1296939"/>
                  </a:lnTo>
                  <a:close/>
                </a:path>
              </a:pathLst>
            </a:custGeom>
            <a:blipFill>
              <a:blip r:embed="rId2"/>
              <a:stretch>
                <a:fillRect l="-19882" r="-19882"/>
              </a:stretch>
            </a:blipFill>
          </p:spPr>
        </p:sp>
      </p:grpSp>
      <p:sp>
        <p:nvSpPr>
          <p:cNvPr id="14" name="TextBox 14"/>
          <p:cNvSpPr txBox="1"/>
          <p:nvPr/>
        </p:nvSpPr>
        <p:spPr>
          <a:xfrm>
            <a:off x="3149047" y="674748"/>
            <a:ext cx="12978121" cy="987450"/>
          </a:xfrm>
          <a:prstGeom prst="rect">
            <a:avLst/>
          </a:prstGeom>
        </p:spPr>
        <p:txBody>
          <a:bodyPr wrap="square" lIns="0" tIns="0" rIns="0" bIns="0" rtlCol="0" anchor="t">
            <a:spAutoFit/>
          </a:bodyPr>
          <a:lstStyle/>
          <a:p>
            <a:pPr>
              <a:lnSpc>
                <a:spcPts val="7734"/>
              </a:lnSpc>
            </a:pPr>
            <a:r>
              <a:rPr lang="en-US" sz="7200" b="1" spc="-662" dirty="0">
                <a:solidFill>
                  <a:srgbClr val="F6E5D7"/>
                </a:solidFill>
                <a:latin typeface="Calibri"/>
                <a:ea typeface="Garet Bold"/>
                <a:cs typeface="Garet Bold"/>
              </a:rPr>
              <a:t>                  ANALYSIS  PERFORMED</a:t>
            </a:r>
          </a:p>
        </p:txBody>
      </p:sp>
      <p:sp>
        <p:nvSpPr>
          <p:cNvPr id="3" name="Content Placeholder 2">
            <a:extLst>
              <a:ext uri="{FF2B5EF4-FFF2-40B4-BE49-F238E27FC236}">
                <a16:creationId xmlns:a16="http://schemas.microsoft.com/office/drawing/2014/main" id="{8259195C-09DA-3DE9-ACDC-23BB70BF9F1A}"/>
              </a:ext>
            </a:extLst>
          </p:cNvPr>
          <p:cNvSpPr>
            <a:spLocks noGrp="1"/>
          </p:cNvSpPr>
          <p:nvPr>
            <p:ph idx="1"/>
          </p:nvPr>
        </p:nvSpPr>
        <p:spPr>
          <a:xfrm>
            <a:off x="523460" y="2014330"/>
            <a:ext cx="11708296" cy="8054354"/>
          </a:xfrm>
        </p:spPr>
        <p:txBody>
          <a:bodyPr vert="horz" lIns="91440" tIns="45720" rIns="91440" bIns="45720" rtlCol="0" anchor="t">
            <a:normAutofit/>
          </a:bodyPr>
          <a:lstStyle/>
          <a:p>
            <a:r>
              <a:rPr lang="en-US" sz="3600" dirty="0">
                <a:solidFill>
                  <a:schemeClr val="bg1"/>
                </a:solidFill>
                <a:ea typeface="+mn-lt"/>
                <a:cs typeface="+mn-lt"/>
              </a:rPr>
              <a:t>The analysis focused on exploring and understanding the Coffee Quality dataset to identify the factors influencing overall coffee quality.</a:t>
            </a:r>
          </a:p>
          <a:p>
            <a:r>
              <a:rPr lang="en-US" sz="3600" dirty="0">
                <a:solidFill>
                  <a:schemeClr val="bg1"/>
                </a:solidFill>
                <a:ea typeface="+mn-lt"/>
                <a:cs typeface="+mn-lt"/>
              </a:rPr>
              <a:t>Exploratory Data Analysis (EDA) was then performed using visualizations such as histograms, box plots, bar charts, and correlation heatmaps to understand the distribution of sensory attributes and their relationship with Total Cup Points.</a:t>
            </a:r>
          </a:p>
          <a:p>
            <a:r>
              <a:rPr lang="en-US" sz="3600" dirty="0">
                <a:solidFill>
                  <a:schemeClr val="bg1"/>
                </a:solidFill>
                <a:ea typeface="+mn-lt"/>
                <a:cs typeface="+mn-lt"/>
              </a:rPr>
              <a:t>Statistical analysis was used to examine the impact of key sensory features including aroma, flavor, acidity, body, balance, sweetness, and aftertaste on quality scores. Comparisons were also made across countries, processing methods, and species (Arabica vs Robusta) to observe variations in coffee performance.</a:t>
            </a:r>
            <a:endParaRPr lang="en-US" sz="3600" dirty="0">
              <a:solidFill>
                <a:schemeClr val="bg1"/>
              </a:solidFill>
              <a:ea typeface="Calibri"/>
              <a:cs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BF1F39-ED04-0E2F-E905-DAB47662E98A}"/>
              </a:ext>
            </a:extLst>
          </p:cNvPr>
          <p:cNvSpPr>
            <a:spLocks noGrp="1"/>
          </p:cNvSpPr>
          <p:nvPr>
            <p:ph type="title"/>
          </p:nvPr>
        </p:nvSpPr>
        <p:spPr>
          <a:xfrm>
            <a:off x="457200" y="274638"/>
            <a:ext cx="11807686" cy="1143000"/>
          </a:xfrm>
        </p:spPr>
        <p:txBody>
          <a:bodyPr/>
          <a:lstStyle/>
          <a:p>
            <a:r>
              <a:rPr lang="en-US" dirty="0">
                <a:ea typeface="Calibri"/>
                <a:cs typeface="Calibri"/>
              </a:rPr>
              <a:t>                       </a:t>
            </a:r>
            <a:r>
              <a:rPr lang="en-US" b="1" dirty="0">
                <a:solidFill>
                  <a:schemeClr val="bg1"/>
                </a:solidFill>
                <a:ea typeface="Calibri"/>
                <a:cs typeface="Calibri"/>
              </a:rPr>
              <a:t>UNIVARIATE ANALYSIS</a:t>
            </a:r>
          </a:p>
        </p:txBody>
      </p:sp>
      <p:pic>
        <p:nvPicPr>
          <p:cNvPr id="4" name="Content Placeholder 3" descr="A pie chart of coffee species distribution&#10;&#10;AI-generated content may be incorrect.">
            <a:extLst>
              <a:ext uri="{FF2B5EF4-FFF2-40B4-BE49-F238E27FC236}">
                <a16:creationId xmlns:a16="http://schemas.microsoft.com/office/drawing/2014/main" id="{895BF89F-CBE1-2AA8-41CC-EFCE556469EE}"/>
              </a:ext>
            </a:extLst>
          </p:cNvPr>
          <p:cNvPicPr>
            <a:picLocks noGrp="1" noChangeAspect="1"/>
          </p:cNvPicPr>
          <p:nvPr>
            <p:ph idx="1"/>
          </p:nvPr>
        </p:nvPicPr>
        <p:blipFill>
          <a:blip r:embed="rId2"/>
          <a:stretch>
            <a:fillRect/>
          </a:stretch>
        </p:blipFill>
        <p:spPr>
          <a:xfrm>
            <a:off x="2095085" y="1683406"/>
            <a:ext cx="4324350" cy="3895725"/>
          </a:xfrm>
          <a:prstGeom prst="rect">
            <a:avLst/>
          </a:prstGeom>
        </p:spPr>
      </p:pic>
      <p:pic>
        <p:nvPicPr>
          <p:cNvPr id="5" name="Picture 4" descr="A graph of quality and quality&#10;&#10;AI-generated content may be incorrect.">
            <a:extLst>
              <a:ext uri="{FF2B5EF4-FFF2-40B4-BE49-F238E27FC236}">
                <a16:creationId xmlns:a16="http://schemas.microsoft.com/office/drawing/2014/main" id="{FD354DD2-66D4-DC94-6980-E9B7851A3E8E}"/>
              </a:ext>
            </a:extLst>
          </p:cNvPr>
          <p:cNvPicPr>
            <a:picLocks noChangeAspect="1"/>
          </p:cNvPicPr>
          <p:nvPr/>
        </p:nvPicPr>
        <p:blipFill>
          <a:blip r:embed="rId3"/>
          <a:stretch>
            <a:fillRect/>
          </a:stretch>
        </p:blipFill>
        <p:spPr>
          <a:xfrm>
            <a:off x="10392189" y="1686547"/>
            <a:ext cx="5753100" cy="5191125"/>
          </a:xfrm>
          <a:prstGeom prst="rect">
            <a:avLst/>
          </a:prstGeom>
        </p:spPr>
      </p:pic>
      <p:pic>
        <p:nvPicPr>
          <p:cNvPr id="6" name="Picture 5" descr="A graph of a number of regions&#10;&#10;AI-generated content may be incorrect.">
            <a:extLst>
              <a:ext uri="{FF2B5EF4-FFF2-40B4-BE49-F238E27FC236}">
                <a16:creationId xmlns:a16="http://schemas.microsoft.com/office/drawing/2014/main" id="{8AB34347-D853-0F95-6550-3B969671B598}"/>
              </a:ext>
            </a:extLst>
          </p:cNvPr>
          <p:cNvPicPr>
            <a:picLocks noChangeAspect="1"/>
          </p:cNvPicPr>
          <p:nvPr/>
        </p:nvPicPr>
        <p:blipFill>
          <a:blip r:embed="rId4"/>
          <a:stretch>
            <a:fillRect/>
          </a:stretch>
        </p:blipFill>
        <p:spPr>
          <a:xfrm>
            <a:off x="1174059" y="6218168"/>
            <a:ext cx="7524750" cy="3714750"/>
          </a:xfrm>
          <a:prstGeom prst="rect">
            <a:avLst/>
          </a:prstGeom>
        </p:spPr>
      </p:pic>
    </p:spTree>
    <p:extLst>
      <p:ext uri="{BB962C8B-B14F-4D97-AF65-F5344CB8AC3E}">
        <p14:creationId xmlns:p14="http://schemas.microsoft.com/office/powerpoint/2010/main" val="2591575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95D85E-B570-7D30-4D40-96E8238DE5A1}"/>
              </a:ext>
            </a:extLst>
          </p:cNvPr>
          <p:cNvSpPr>
            <a:spLocks noGrp="1"/>
          </p:cNvSpPr>
          <p:nvPr>
            <p:ph type="title"/>
          </p:nvPr>
        </p:nvSpPr>
        <p:spPr>
          <a:xfrm>
            <a:off x="3499596" y="5697"/>
            <a:ext cx="9994526" cy="1411941"/>
          </a:xfrm>
        </p:spPr>
        <p:txBody>
          <a:bodyPr/>
          <a:lstStyle/>
          <a:p>
            <a:r>
              <a:rPr lang="en-US" b="1" dirty="0">
                <a:solidFill>
                  <a:schemeClr val="bg1"/>
                </a:solidFill>
                <a:ea typeface="Calibri"/>
                <a:cs typeface="Calibri"/>
              </a:rPr>
              <a:t>BIVARIATE ANALYSIS</a:t>
            </a:r>
          </a:p>
        </p:txBody>
      </p:sp>
      <p:pic>
        <p:nvPicPr>
          <p:cNvPr id="4" name="Content Placeholder 3">
            <a:extLst>
              <a:ext uri="{FF2B5EF4-FFF2-40B4-BE49-F238E27FC236}">
                <a16:creationId xmlns:a16="http://schemas.microsoft.com/office/drawing/2014/main" id="{0CFD361B-B12B-924E-0704-705F8E506D90}"/>
              </a:ext>
            </a:extLst>
          </p:cNvPr>
          <p:cNvPicPr>
            <a:picLocks noGrp="1" noChangeAspect="1"/>
          </p:cNvPicPr>
          <p:nvPr>
            <p:ph idx="1"/>
          </p:nvPr>
        </p:nvPicPr>
        <p:blipFill>
          <a:blip r:embed="rId2"/>
          <a:stretch>
            <a:fillRect/>
          </a:stretch>
        </p:blipFill>
        <p:spPr>
          <a:xfrm>
            <a:off x="1228165" y="1420018"/>
            <a:ext cx="5410200" cy="4079502"/>
          </a:xfrm>
          <a:prstGeom prst="rect">
            <a:avLst/>
          </a:prstGeom>
        </p:spPr>
      </p:pic>
      <p:pic>
        <p:nvPicPr>
          <p:cNvPr id="3" name="Picture 2">
            <a:extLst>
              <a:ext uri="{FF2B5EF4-FFF2-40B4-BE49-F238E27FC236}">
                <a16:creationId xmlns:a16="http://schemas.microsoft.com/office/drawing/2014/main" id="{F14523C8-0956-C687-0899-286B006CB4A6}"/>
              </a:ext>
            </a:extLst>
          </p:cNvPr>
          <p:cNvPicPr>
            <a:picLocks noChangeAspect="1"/>
          </p:cNvPicPr>
          <p:nvPr/>
        </p:nvPicPr>
        <p:blipFill>
          <a:blip r:embed="rId3"/>
          <a:stretch>
            <a:fillRect/>
          </a:stretch>
        </p:blipFill>
        <p:spPr>
          <a:xfrm>
            <a:off x="4125445" y="6298546"/>
            <a:ext cx="8020050" cy="3993217"/>
          </a:xfrm>
          <a:prstGeom prst="rect">
            <a:avLst/>
          </a:prstGeom>
        </p:spPr>
      </p:pic>
      <p:pic>
        <p:nvPicPr>
          <p:cNvPr id="5" name="Picture 4" descr="A graph with lines and dots&#10;&#10;AI-generated content may be incorrect.">
            <a:extLst>
              <a:ext uri="{FF2B5EF4-FFF2-40B4-BE49-F238E27FC236}">
                <a16:creationId xmlns:a16="http://schemas.microsoft.com/office/drawing/2014/main" id="{3F494C4C-97F4-A4BC-E9EE-A4160593345C}"/>
              </a:ext>
            </a:extLst>
          </p:cNvPr>
          <p:cNvPicPr>
            <a:picLocks noChangeAspect="1"/>
          </p:cNvPicPr>
          <p:nvPr/>
        </p:nvPicPr>
        <p:blipFill>
          <a:blip r:embed="rId4"/>
          <a:stretch>
            <a:fillRect/>
          </a:stretch>
        </p:blipFill>
        <p:spPr>
          <a:xfrm>
            <a:off x="9563382" y="1423147"/>
            <a:ext cx="5514975" cy="4331074"/>
          </a:xfrm>
          <a:prstGeom prst="rect">
            <a:avLst/>
          </a:prstGeom>
        </p:spPr>
      </p:pic>
    </p:spTree>
    <p:extLst>
      <p:ext uri="{BB962C8B-B14F-4D97-AF65-F5344CB8AC3E}">
        <p14:creationId xmlns:p14="http://schemas.microsoft.com/office/powerpoint/2010/main" val="20004923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FC25F-9D19-EE9A-14C6-8211CED8278B}"/>
              </a:ext>
            </a:extLst>
          </p:cNvPr>
          <p:cNvSpPr>
            <a:spLocks noGrp="1"/>
          </p:cNvSpPr>
          <p:nvPr>
            <p:ph type="title"/>
          </p:nvPr>
        </p:nvSpPr>
        <p:spPr>
          <a:xfrm>
            <a:off x="1028700" y="274638"/>
            <a:ext cx="14263967" cy="1143000"/>
          </a:xfrm>
        </p:spPr>
        <p:txBody>
          <a:bodyPr/>
          <a:lstStyle/>
          <a:p>
            <a:r>
              <a:rPr lang="en-US" b="1" dirty="0">
                <a:solidFill>
                  <a:schemeClr val="bg1"/>
                </a:solidFill>
                <a:ea typeface="Calibri"/>
                <a:cs typeface="Calibri"/>
              </a:rPr>
              <a:t>MULTIVARIATE ANALYSIS</a:t>
            </a:r>
          </a:p>
        </p:txBody>
      </p:sp>
      <p:pic>
        <p:nvPicPr>
          <p:cNvPr id="4" name="Content Placeholder 3">
            <a:extLst>
              <a:ext uri="{FF2B5EF4-FFF2-40B4-BE49-F238E27FC236}">
                <a16:creationId xmlns:a16="http://schemas.microsoft.com/office/drawing/2014/main" id="{9BDD09E6-1AF6-5CBE-7165-CDB13737D82B}"/>
              </a:ext>
            </a:extLst>
          </p:cNvPr>
          <p:cNvPicPr>
            <a:picLocks noGrp="1" noChangeAspect="1"/>
          </p:cNvPicPr>
          <p:nvPr>
            <p:ph idx="1"/>
          </p:nvPr>
        </p:nvPicPr>
        <p:blipFill>
          <a:blip r:embed="rId2"/>
          <a:stretch>
            <a:fillRect/>
          </a:stretch>
        </p:blipFill>
        <p:spPr>
          <a:xfrm>
            <a:off x="719417" y="2318171"/>
            <a:ext cx="7016002" cy="5157507"/>
          </a:xfrm>
          <a:prstGeom prst="rect">
            <a:avLst/>
          </a:prstGeom>
        </p:spPr>
      </p:pic>
      <p:pic>
        <p:nvPicPr>
          <p:cNvPr id="6" name="Picture 5" descr="A chart of different colors&#10;&#10;AI-generated content may be incorrect.">
            <a:extLst>
              <a:ext uri="{FF2B5EF4-FFF2-40B4-BE49-F238E27FC236}">
                <a16:creationId xmlns:a16="http://schemas.microsoft.com/office/drawing/2014/main" id="{8E8872E0-4421-BA60-0E9D-EA9AA2848CA7}"/>
              </a:ext>
            </a:extLst>
          </p:cNvPr>
          <p:cNvPicPr>
            <a:picLocks noChangeAspect="1"/>
          </p:cNvPicPr>
          <p:nvPr/>
        </p:nvPicPr>
        <p:blipFill>
          <a:blip r:embed="rId3"/>
          <a:stretch>
            <a:fillRect/>
          </a:stretch>
        </p:blipFill>
        <p:spPr>
          <a:xfrm>
            <a:off x="8943414" y="2319617"/>
            <a:ext cx="7275979" cy="5715000"/>
          </a:xfrm>
          <a:prstGeom prst="rect">
            <a:avLst/>
          </a:prstGeom>
        </p:spPr>
      </p:pic>
    </p:spTree>
    <p:extLst>
      <p:ext uri="{BB962C8B-B14F-4D97-AF65-F5344CB8AC3E}">
        <p14:creationId xmlns:p14="http://schemas.microsoft.com/office/powerpoint/2010/main" val="20269214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2" name="Group 2"/>
          <p:cNvGrpSpPr/>
          <p:nvPr/>
        </p:nvGrpSpPr>
        <p:grpSpPr>
          <a:xfrm>
            <a:off x="0" y="1141"/>
            <a:ext cx="18291973" cy="1444407"/>
            <a:chOff x="0" y="0"/>
            <a:chExt cx="5118676" cy="389146"/>
          </a:xfrm>
        </p:grpSpPr>
        <p:sp>
          <p:nvSpPr>
            <p:cNvPr id="3" name="Freeform 3"/>
            <p:cNvSpPr/>
            <p:nvPr/>
          </p:nvSpPr>
          <p:spPr>
            <a:xfrm>
              <a:off x="0" y="0"/>
              <a:ext cx="5118676" cy="389146"/>
            </a:xfrm>
            <a:custGeom>
              <a:avLst/>
              <a:gdLst/>
              <a:ahLst/>
              <a:cxnLst/>
              <a:rect l="l" t="t" r="r" b="b"/>
              <a:pathLst>
                <a:path w="5118676" h="389146">
                  <a:moveTo>
                    <a:pt x="0" y="0"/>
                  </a:moveTo>
                  <a:lnTo>
                    <a:pt x="5118676" y="0"/>
                  </a:lnTo>
                  <a:lnTo>
                    <a:pt x="5118676" y="389146"/>
                  </a:lnTo>
                  <a:lnTo>
                    <a:pt x="0" y="389146"/>
                  </a:lnTo>
                  <a:close/>
                </a:path>
              </a:pathLst>
            </a:custGeom>
            <a:solidFill>
              <a:srgbClr val="D68E4A"/>
            </a:solidFill>
          </p:spPr>
        </p:sp>
        <p:sp>
          <p:nvSpPr>
            <p:cNvPr id="4" name="TextBox 4"/>
            <p:cNvSpPr txBox="1"/>
            <p:nvPr/>
          </p:nvSpPr>
          <p:spPr>
            <a:xfrm>
              <a:off x="0" y="-28575"/>
              <a:ext cx="5118676" cy="417721"/>
            </a:xfrm>
            <a:prstGeom prst="rect">
              <a:avLst/>
            </a:prstGeom>
          </p:spPr>
          <p:txBody>
            <a:bodyPr lIns="50800" tIns="50800" rIns="50800" bIns="50800" rtlCol="0" anchor="ctr"/>
            <a:lstStyle/>
            <a:p>
              <a:pPr algn="ctr">
                <a:lnSpc>
                  <a:spcPts val="2357"/>
                </a:lnSpc>
              </a:pPr>
              <a:endParaRPr/>
            </a:p>
          </p:txBody>
        </p:sp>
      </p:grpSp>
      <p:sp>
        <p:nvSpPr>
          <p:cNvPr id="11" name="TextBox 11"/>
          <p:cNvSpPr txBox="1"/>
          <p:nvPr/>
        </p:nvSpPr>
        <p:spPr>
          <a:xfrm>
            <a:off x="5356501" y="415073"/>
            <a:ext cx="8178045" cy="987450"/>
          </a:xfrm>
          <a:prstGeom prst="rect">
            <a:avLst/>
          </a:prstGeom>
        </p:spPr>
        <p:txBody>
          <a:bodyPr wrap="square" lIns="0" tIns="0" rIns="0" bIns="0" rtlCol="0" anchor="t">
            <a:spAutoFit/>
          </a:bodyPr>
          <a:lstStyle/>
          <a:p>
            <a:pPr algn="ctr">
              <a:lnSpc>
                <a:spcPts val="7734"/>
              </a:lnSpc>
            </a:pPr>
            <a:r>
              <a:rPr lang="en-US" sz="7200" b="1" spc="-662" dirty="0">
                <a:solidFill>
                  <a:srgbClr val="F6E5D7"/>
                </a:solidFill>
                <a:latin typeface="Calibri"/>
                <a:ea typeface="Garet Bold"/>
                <a:cs typeface="Garet Bold"/>
              </a:rPr>
              <a:t>KEY  INSIGHTS</a:t>
            </a:r>
          </a:p>
        </p:txBody>
      </p:sp>
      <p:sp>
        <p:nvSpPr>
          <p:cNvPr id="21" name="Content Placeholder 20">
            <a:extLst>
              <a:ext uri="{FF2B5EF4-FFF2-40B4-BE49-F238E27FC236}">
                <a16:creationId xmlns:a16="http://schemas.microsoft.com/office/drawing/2014/main" id="{F86E7938-AB19-1CA7-5237-BBC3EC01E119}"/>
              </a:ext>
            </a:extLst>
          </p:cNvPr>
          <p:cNvSpPr>
            <a:spLocks noGrp="1"/>
          </p:cNvSpPr>
          <p:nvPr>
            <p:ph idx="1"/>
          </p:nvPr>
        </p:nvSpPr>
        <p:spPr>
          <a:xfrm>
            <a:off x="308113" y="1782419"/>
            <a:ext cx="17588946" cy="8253134"/>
          </a:xfrm>
        </p:spPr>
        <p:txBody>
          <a:bodyPr vert="horz" lIns="91440" tIns="45720" rIns="91440" bIns="45720" rtlCol="0" anchor="t">
            <a:noAutofit/>
          </a:bodyPr>
          <a:lstStyle/>
          <a:p>
            <a:r>
              <a:rPr lang="en-US" sz="3600" dirty="0">
                <a:solidFill>
                  <a:schemeClr val="bg1"/>
                </a:solidFill>
                <a:ea typeface="+mn-lt"/>
                <a:cs typeface="+mn-lt"/>
              </a:rPr>
              <a:t>Aroma, Flavor, Balance, and Aftertaste show the strongest correlation with Total Cup Points.</a:t>
            </a:r>
            <a:endParaRPr lang="en-US" sz="3600" dirty="0">
              <a:solidFill>
                <a:schemeClr val="bg1"/>
              </a:solidFill>
              <a:ea typeface="Calibri"/>
              <a:cs typeface="Calibri"/>
            </a:endParaRPr>
          </a:p>
          <a:p>
            <a:r>
              <a:rPr lang="en-US" sz="3600" dirty="0">
                <a:solidFill>
                  <a:schemeClr val="bg1"/>
                </a:solidFill>
                <a:ea typeface="+mn-lt"/>
                <a:cs typeface="+mn-lt"/>
              </a:rPr>
              <a:t>Coffees scoring above 85 consistently show:</a:t>
            </a:r>
            <a:endParaRPr lang="en-US" sz="3600" dirty="0">
              <a:solidFill>
                <a:schemeClr val="bg1"/>
              </a:solidFill>
              <a:ea typeface="Calibri"/>
              <a:cs typeface="Calibri"/>
            </a:endParaRPr>
          </a:p>
          <a:p>
            <a:pPr lvl="1"/>
            <a:r>
              <a:rPr lang="en-US" sz="3600" dirty="0">
                <a:solidFill>
                  <a:schemeClr val="bg1"/>
                </a:solidFill>
                <a:ea typeface="+mn-lt"/>
                <a:cs typeface="+mn-lt"/>
              </a:rPr>
              <a:t>Higher Aroma and Flavor</a:t>
            </a:r>
            <a:endParaRPr lang="en-US" sz="3600" dirty="0">
              <a:solidFill>
                <a:schemeClr val="bg1"/>
              </a:solidFill>
              <a:ea typeface="Calibri"/>
              <a:cs typeface="Calibri"/>
            </a:endParaRPr>
          </a:p>
          <a:p>
            <a:pPr lvl="1"/>
            <a:r>
              <a:rPr lang="en-US" sz="3600" dirty="0">
                <a:solidFill>
                  <a:schemeClr val="bg1"/>
                </a:solidFill>
                <a:ea typeface="+mn-lt"/>
                <a:cs typeface="+mn-lt"/>
              </a:rPr>
              <a:t>Better Balance and Sweetness</a:t>
            </a:r>
            <a:endParaRPr lang="en-US" sz="3600" dirty="0">
              <a:solidFill>
                <a:schemeClr val="bg1"/>
              </a:solidFill>
              <a:ea typeface="Calibri"/>
              <a:cs typeface="Calibri"/>
            </a:endParaRPr>
          </a:p>
          <a:p>
            <a:r>
              <a:rPr lang="en-US" sz="3600" dirty="0">
                <a:solidFill>
                  <a:schemeClr val="bg1"/>
                </a:solidFill>
                <a:ea typeface="+mn-lt"/>
                <a:cs typeface="+mn-lt"/>
              </a:rPr>
              <a:t>Low-quality coffees exhibit weaker sensory consistency.</a:t>
            </a:r>
            <a:endParaRPr lang="en-US" sz="3600" dirty="0">
              <a:solidFill>
                <a:schemeClr val="bg1"/>
              </a:solidFill>
              <a:ea typeface="Calibri"/>
              <a:cs typeface="Calibri"/>
            </a:endParaRPr>
          </a:p>
          <a:p>
            <a:r>
              <a:rPr lang="en-US" sz="3600" dirty="0">
                <a:solidFill>
                  <a:schemeClr val="bg1"/>
                </a:solidFill>
                <a:ea typeface="+mn-lt"/>
                <a:cs typeface="+mn-lt"/>
              </a:rPr>
              <a:t>Certain countries consistently produce higher average quality scores.</a:t>
            </a:r>
            <a:endParaRPr lang="en-US" sz="3600" dirty="0">
              <a:solidFill>
                <a:schemeClr val="bg1"/>
              </a:solidFill>
              <a:ea typeface="Calibri"/>
              <a:cs typeface="Calibri"/>
            </a:endParaRPr>
          </a:p>
          <a:p>
            <a:r>
              <a:rPr lang="en-US" sz="3600" dirty="0">
                <a:solidFill>
                  <a:schemeClr val="bg1"/>
                </a:solidFill>
                <a:ea typeface="+mn-lt"/>
                <a:cs typeface="+mn-lt"/>
              </a:rPr>
              <a:t>Quality varies significantly among countries, indicating the importance of terroir and farming practices.</a:t>
            </a:r>
            <a:endParaRPr lang="en-US" sz="3600" dirty="0">
              <a:solidFill>
                <a:schemeClr val="bg1"/>
              </a:solidFill>
              <a:ea typeface="Calibri"/>
              <a:cs typeface="Calibri"/>
            </a:endParaRPr>
          </a:p>
          <a:p>
            <a:r>
              <a:rPr lang="en-US" sz="3600" dirty="0">
                <a:solidFill>
                  <a:schemeClr val="bg1"/>
                </a:solidFill>
                <a:ea typeface="+mn-lt"/>
                <a:cs typeface="+mn-lt"/>
              </a:rPr>
              <a:t>Washed and Honey processing methods tend to generate higher average cup points.</a:t>
            </a:r>
            <a:endParaRPr lang="en-US" sz="3600" dirty="0">
              <a:solidFill>
                <a:schemeClr val="bg1"/>
              </a:solidFill>
              <a:ea typeface="Calibri"/>
              <a:cs typeface="Calibri"/>
            </a:endParaRPr>
          </a:p>
          <a:p>
            <a:r>
              <a:rPr lang="en-US" sz="3600" dirty="0">
                <a:solidFill>
                  <a:schemeClr val="bg1"/>
                </a:solidFill>
                <a:ea typeface="+mn-lt"/>
                <a:cs typeface="+mn-lt"/>
              </a:rPr>
              <a:t>Natural processing shows greater variability in quality.</a:t>
            </a:r>
            <a:endParaRPr lang="en-US" sz="3600" dirty="0">
              <a:solidFill>
                <a:schemeClr val="bg1"/>
              </a:solidFill>
              <a:ea typeface="Calibri"/>
              <a:cs typeface="Calibri"/>
            </a:endParaRPr>
          </a:p>
          <a:p>
            <a:r>
              <a:rPr lang="en-US" sz="3600" dirty="0">
                <a:solidFill>
                  <a:schemeClr val="bg1"/>
                </a:solidFill>
                <a:ea typeface="+mn-lt"/>
                <a:cs typeface="+mn-lt"/>
              </a:rPr>
              <a:t>Premium coffees with high sensory scores</a:t>
            </a:r>
            <a:endParaRPr lang="en-US" sz="3600" dirty="0">
              <a:solidFill>
                <a:schemeClr val="bg1"/>
              </a:solidFill>
              <a:ea typeface="Calibri"/>
              <a:cs typeface="Calibri"/>
            </a:endParaRPr>
          </a:p>
          <a:p>
            <a:r>
              <a:rPr lang="en-US" sz="3600" dirty="0">
                <a:solidFill>
                  <a:schemeClr val="bg1"/>
                </a:solidFill>
                <a:ea typeface="+mn-lt"/>
                <a:cs typeface="+mn-lt"/>
              </a:rPr>
              <a:t>Medium-standard coffees</a:t>
            </a:r>
            <a:endParaRPr lang="en-US" sz="3600" dirty="0">
              <a:solidFill>
                <a:schemeClr val="bg1"/>
              </a:solidFill>
              <a:ea typeface="Calibri"/>
              <a:cs typeface="Calibri"/>
            </a:endParaRPr>
          </a:p>
          <a:p>
            <a:r>
              <a:rPr lang="en-US" sz="3600" dirty="0">
                <a:solidFill>
                  <a:schemeClr val="bg1"/>
                </a:solidFill>
                <a:ea typeface="+mn-lt"/>
                <a:cs typeface="+mn-lt"/>
              </a:rPr>
              <a:t>Low-scoring coffees with poor sensory balance</a:t>
            </a:r>
            <a:endParaRPr lang="en-US" sz="3600" dirty="0">
              <a:solidFill>
                <a:schemeClr val="bg1"/>
              </a:solidFill>
              <a:ea typeface="Calibri"/>
              <a:cs typeface="Calibri"/>
            </a:endParaRPr>
          </a:p>
          <a:p>
            <a:endParaRPr lang="en-US" sz="3600" dirty="0">
              <a:ea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0E0E"/>
        </a:solidFill>
        <a:effectLst/>
      </p:bgPr>
    </p:bg>
    <p:spTree>
      <p:nvGrpSpPr>
        <p:cNvPr id="1" name=""/>
        <p:cNvGrpSpPr/>
        <p:nvPr/>
      </p:nvGrpSpPr>
      <p:grpSpPr>
        <a:xfrm>
          <a:off x="0" y="0"/>
          <a:ext cx="0" cy="0"/>
          <a:chOff x="0" y="0"/>
          <a:chExt cx="0" cy="0"/>
        </a:xfrm>
      </p:grpSpPr>
      <p:grpSp>
        <p:nvGrpSpPr>
          <p:cNvPr id="8" name="Group 8"/>
          <p:cNvGrpSpPr/>
          <p:nvPr/>
        </p:nvGrpSpPr>
        <p:grpSpPr>
          <a:xfrm>
            <a:off x="11147612" y="208609"/>
            <a:ext cx="6752555" cy="2791732"/>
            <a:chOff x="0" y="0"/>
            <a:chExt cx="2331529" cy="969736"/>
          </a:xfrm>
        </p:grpSpPr>
        <p:sp>
          <p:nvSpPr>
            <p:cNvPr id="9" name="Freeform 9"/>
            <p:cNvSpPr/>
            <p:nvPr/>
          </p:nvSpPr>
          <p:spPr>
            <a:xfrm>
              <a:off x="0" y="0"/>
              <a:ext cx="2331529" cy="969736"/>
            </a:xfrm>
            <a:custGeom>
              <a:avLst/>
              <a:gdLst/>
              <a:ahLst/>
              <a:cxnLst/>
              <a:rect l="l" t="t" r="r" b="b"/>
              <a:pathLst>
                <a:path w="2331529" h="969736">
                  <a:moveTo>
                    <a:pt x="0" y="0"/>
                  </a:moveTo>
                  <a:lnTo>
                    <a:pt x="2331529" y="0"/>
                  </a:lnTo>
                  <a:lnTo>
                    <a:pt x="2331529" y="969736"/>
                  </a:lnTo>
                  <a:lnTo>
                    <a:pt x="0" y="969736"/>
                  </a:lnTo>
                  <a:close/>
                </a:path>
              </a:pathLst>
            </a:custGeom>
            <a:blipFill>
              <a:blip r:embed="rId2"/>
              <a:stretch>
                <a:fillRect t="-30093" b="-30093"/>
              </a:stretch>
            </a:blipFill>
          </p:spPr>
        </p:sp>
      </p:grpSp>
      <p:sp>
        <p:nvSpPr>
          <p:cNvPr id="13" name="TextBox 13"/>
          <p:cNvSpPr txBox="1"/>
          <p:nvPr/>
        </p:nvSpPr>
        <p:spPr>
          <a:xfrm>
            <a:off x="2587350" y="747195"/>
            <a:ext cx="8551598" cy="1017586"/>
          </a:xfrm>
          <a:prstGeom prst="rect">
            <a:avLst/>
          </a:prstGeom>
        </p:spPr>
        <p:txBody>
          <a:bodyPr wrap="square" lIns="0" tIns="0" rIns="0" bIns="0" rtlCol="0" anchor="t">
            <a:spAutoFit/>
          </a:bodyPr>
          <a:lstStyle/>
          <a:p>
            <a:pPr>
              <a:lnSpc>
                <a:spcPts val="7734"/>
              </a:lnSpc>
            </a:pPr>
            <a:r>
              <a:rPr lang="en-US" sz="7200" b="1" spc="-662">
                <a:solidFill>
                  <a:srgbClr val="F6E5D7"/>
                </a:solidFill>
                <a:latin typeface="Calibri"/>
                <a:ea typeface="Garet Bold"/>
                <a:cs typeface="Garet Bold"/>
              </a:rPr>
              <a:t>  RECOMMENTATIONS</a:t>
            </a:r>
          </a:p>
        </p:txBody>
      </p:sp>
      <p:sp>
        <p:nvSpPr>
          <p:cNvPr id="2" name="TextBox 1">
            <a:extLst>
              <a:ext uri="{FF2B5EF4-FFF2-40B4-BE49-F238E27FC236}">
                <a16:creationId xmlns:a16="http://schemas.microsoft.com/office/drawing/2014/main" id="{C4037B96-E6C1-B730-5D48-0F0DAB49392F}"/>
              </a:ext>
            </a:extLst>
          </p:cNvPr>
          <p:cNvSpPr txBox="1"/>
          <p:nvPr/>
        </p:nvSpPr>
        <p:spPr>
          <a:xfrm>
            <a:off x="554692" y="2235575"/>
            <a:ext cx="13161308" cy="84023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71500" indent="-571500">
              <a:buFont typeface="Arial"/>
              <a:buChar char="•"/>
            </a:pPr>
            <a:r>
              <a:rPr lang="en-US" sz="3600" dirty="0">
                <a:solidFill>
                  <a:schemeClr val="bg1"/>
                </a:solidFill>
              </a:rPr>
              <a:t>Focus on improving Aroma and Flavor development through better roasting and fermentation control.</a:t>
            </a:r>
            <a:endParaRPr lang="en-US" sz="3600" dirty="0">
              <a:solidFill>
                <a:schemeClr val="bg1"/>
              </a:solidFill>
              <a:ea typeface="Calibri"/>
              <a:cs typeface="Calibri"/>
            </a:endParaRPr>
          </a:p>
          <a:p>
            <a:pPr marL="571500" indent="-571500">
              <a:buFont typeface="Arial"/>
              <a:buChar char="•"/>
            </a:pPr>
            <a:r>
              <a:rPr lang="en-US" sz="3600" dirty="0">
                <a:solidFill>
                  <a:schemeClr val="bg1"/>
                </a:solidFill>
              </a:rPr>
              <a:t>Adopt processing methods like Washed or Honey for higher consistency in quality.</a:t>
            </a:r>
            <a:endParaRPr lang="en-US" sz="3600" dirty="0">
              <a:solidFill>
                <a:schemeClr val="bg1"/>
              </a:solidFill>
              <a:ea typeface="Calibri"/>
              <a:cs typeface="Calibri"/>
            </a:endParaRPr>
          </a:p>
          <a:p>
            <a:pPr marL="571500" indent="-571500">
              <a:buFont typeface="Arial"/>
              <a:buChar char="•"/>
            </a:pPr>
            <a:r>
              <a:rPr lang="en-US" sz="3600" dirty="0">
                <a:solidFill>
                  <a:schemeClr val="bg1"/>
                </a:solidFill>
              </a:rPr>
              <a:t>Monitor Balance and Aftertaste during quality control.</a:t>
            </a:r>
            <a:endParaRPr lang="en-US" sz="3600" dirty="0">
              <a:solidFill>
                <a:schemeClr val="bg1"/>
              </a:solidFill>
              <a:ea typeface="Calibri"/>
              <a:cs typeface="Calibri"/>
            </a:endParaRPr>
          </a:p>
          <a:p>
            <a:pPr marL="571500" indent="-571500">
              <a:buFont typeface="Arial"/>
              <a:buChar char="•"/>
            </a:pPr>
            <a:r>
              <a:rPr lang="en-US" sz="3600" dirty="0">
                <a:solidFill>
                  <a:schemeClr val="bg1"/>
                </a:solidFill>
              </a:rPr>
              <a:t> Use high-impact features (Aroma, Flavor, Sweetness) as primary evaluation metrics.</a:t>
            </a:r>
            <a:endParaRPr lang="en-US" sz="3600" dirty="0">
              <a:solidFill>
                <a:schemeClr val="bg1"/>
              </a:solidFill>
              <a:ea typeface="Calibri"/>
              <a:cs typeface="Calibri"/>
            </a:endParaRPr>
          </a:p>
          <a:p>
            <a:pPr marL="571500" indent="-571500">
              <a:buFont typeface="Arial"/>
              <a:buChar char="•"/>
            </a:pPr>
            <a:r>
              <a:rPr lang="en-US" sz="3600" dirty="0">
                <a:solidFill>
                  <a:schemeClr val="bg1"/>
                </a:solidFill>
              </a:rPr>
              <a:t>Apply clustering results to classify coffee lots into quality tiers earl</a:t>
            </a:r>
            <a:endParaRPr lang="en-US" sz="3600" dirty="0">
              <a:solidFill>
                <a:schemeClr val="bg1"/>
              </a:solidFill>
              <a:ea typeface="Calibri"/>
              <a:cs typeface="Calibri"/>
            </a:endParaRPr>
          </a:p>
          <a:p>
            <a:pPr marL="571500" indent="-571500">
              <a:buFont typeface="Arial"/>
              <a:buChar char="•"/>
            </a:pPr>
            <a:r>
              <a:rPr lang="en-US" sz="3600" dirty="0">
                <a:solidFill>
                  <a:schemeClr val="bg1"/>
                </a:solidFill>
              </a:rPr>
              <a:t>Integrate predictive models to estimate Total Cup Points from sensory scores.</a:t>
            </a:r>
            <a:endParaRPr lang="en-US" sz="3600" dirty="0">
              <a:solidFill>
                <a:schemeClr val="bg1"/>
              </a:solidFill>
              <a:ea typeface="Calibri"/>
              <a:cs typeface="Calibri"/>
            </a:endParaRPr>
          </a:p>
          <a:p>
            <a:pPr marL="571500" indent="-571500">
              <a:buFont typeface="Arial"/>
              <a:buChar char="•"/>
            </a:pPr>
            <a:r>
              <a:rPr lang="en-US" sz="3600" dirty="0">
                <a:solidFill>
                  <a:schemeClr val="bg1"/>
                </a:solidFill>
              </a:rPr>
              <a:t>Use this dataset for seasonal trend and terroir analysis.</a:t>
            </a:r>
            <a:endParaRPr lang="en-US" sz="3600" dirty="0">
              <a:solidFill>
                <a:schemeClr val="bg1"/>
              </a:solidFill>
              <a:ea typeface="Calibri"/>
              <a:cs typeface="Calibri"/>
            </a:endParaRPr>
          </a:p>
          <a:p>
            <a:pPr marL="571500" indent="-571500">
              <a:buFont typeface="Arial"/>
              <a:buChar char="•"/>
            </a:pPr>
            <a:r>
              <a:rPr lang="en-US" sz="3600" dirty="0">
                <a:solidFill>
                  <a:schemeClr val="bg1"/>
                </a:solidFill>
              </a:rPr>
              <a:t>Prioritize sourcing from high-performing countries and farms identified in analysis.</a:t>
            </a:r>
            <a:endParaRPr lang="en-US" sz="3600" dirty="0">
              <a:solidFill>
                <a:schemeClr val="bg1"/>
              </a:solidFill>
              <a:ea typeface="Calibri"/>
              <a:cs typeface="Calibri"/>
            </a:endParaRPr>
          </a:p>
          <a:p>
            <a:pPr marL="571500" indent="-571500">
              <a:buFont typeface="Arial"/>
              <a:buChar char="•"/>
            </a:pPr>
            <a:r>
              <a:rPr lang="en-US" sz="3600" dirty="0">
                <a:solidFill>
                  <a:schemeClr val="bg1"/>
                </a:solidFill>
              </a:rPr>
              <a:t>Market premium clusters as specialty-grade coffee.</a:t>
            </a:r>
            <a:endParaRPr lang="en-US" sz="3600" dirty="0">
              <a:solidFill>
                <a:schemeClr val="bg1"/>
              </a:solidFill>
              <a:ea typeface="Calibri"/>
              <a:cs typeface="Calibri"/>
            </a:endParaRPr>
          </a:p>
          <a:p>
            <a:pPr marL="571500" indent="-571500" algn="ctr">
              <a:buFont typeface="Arial"/>
              <a:buChar char="•"/>
            </a:pPr>
            <a:endParaRPr lang="en-US" sz="3600" dirty="0">
              <a:solidFill>
                <a:schemeClr val="bg1"/>
              </a:solidFill>
              <a:ea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8B5A01-5E39-3629-8627-0506170ECC94}"/>
              </a:ext>
            </a:extLst>
          </p:cNvPr>
          <p:cNvSpPr>
            <a:spLocks noGrp="1"/>
          </p:cNvSpPr>
          <p:nvPr>
            <p:ph type="title"/>
          </p:nvPr>
        </p:nvSpPr>
        <p:spPr>
          <a:xfrm>
            <a:off x="457200" y="655638"/>
            <a:ext cx="11426686" cy="1391478"/>
          </a:xfrm>
        </p:spPr>
        <p:txBody>
          <a:bodyPr>
            <a:noAutofit/>
          </a:bodyPr>
          <a:lstStyle/>
          <a:p>
            <a:r>
              <a:rPr lang="en-US" sz="7200" b="1" dirty="0">
                <a:solidFill>
                  <a:schemeClr val="bg1"/>
                </a:solidFill>
                <a:ea typeface="Calibri"/>
                <a:cs typeface="Calibri"/>
              </a:rPr>
              <a:t>      CONCLUSION</a:t>
            </a:r>
          </a:p>
        </p:txBody>
      </p:sp>
      <p:sp>
        <p:nvSpPr>
          <p:cNvPr id="3" name="Content Placeholder 2">
            <a:extLst>
              <a:ext uri="{FF2B5EF4-FFF2-40B4-BE49-F238E27FC236}">
                <a16:creationId xmlns:a16="http://schemas.microsoft.com/office/drawing/2014/main" id="{D013B04A-28EE-D605-4BC0-94E5FC6D86E5}"/>
              </a:ext>
            </a:extLst>
          </p:cNvPr>
          <p:cNvSpPr>
            <a:spLocks noGrp="1"/>
          </p:cNvSpPr>
          <p:nvPr>
            <p:ph idx="1"/>
          </p:nvPr>
        </p:nvSpPr>
        <p:spPr>
          <a:xfrm>
            <a:off x="1351721" y="2560982"/>
            <a:ext cx="10747514" cy="7308920"/>
          </a:xfrm>
        </p:spPr>
        <p:txBody>
          <a:bodyPr vert="horz" lIns="91440" tIns="45720" rIns="91440" bIns="45720" rtlCol="0" anchor="t">
            <a:normAutofit/>
          </a:bodyPr>
          <a:lstStyle/>
          <a:p>
            <a:endParaRPr lang="en-US" sz="3600" dirty="0">
              <a:solidFill>
                <a:schemeClr val="bg1"/>
              </a:solidFill>
              <a:ea typeface="+mn-lt"/>
              <a:cs typeface="+mn-lt"/>
            </a:endParaRPr>
          </a:p>
          <a:p>
            <a:r>
              <a:rPr lang="en-US" sz="3600" dirty="0">
                <a:solidFill>
                  <a:schemeClr val="bg1"/>
                </a:solidFill>
              </a:rPr>
              <a:t>The analysis shows that coffee quality mainly depends on sensory features like aroma, flavor, and balance, as well as the processing methods used. By paying more attention to these factors, producers can improve the overall quality of coffee, increase its market value, and support sustainable production. Using data-based insights helps everyone involved, from farmers to sellers, make better decisions throughout the coffee production process.</a:t>
            </a:r>
            <a:endParaRPr lang="en-US" sz="3600" dirty="0">
              <a:solidFill>
                <a:schemeClr val="bg1"/>
              </a:solidFill>
              <a:ea typeface="Calibri"/>
              <a:cs typeface="Calibri"/>
            </a:endParaRPr>
          </a:p>
          <a:p>
            <a:endParaRPr lang="en-US" sz="3600" dirty="0">
              <a:solidFill>
                <a:schemeClr val="bg1"/>
              </a:solidFill>
              <a:ea typeface="Calibri"/>
              <a:cs typeface="Calibri"/>
            </a:endParaRPr>
          </a:p>
        </p:txBody>
      </p:sp>
      <p:grpSp>
        <p:nvGrpSpPr>
          <p:cNvPr id="4" name="Group 3">
            <a:extLst>
              <a:ext uri="{FF2B5EF4-FFF2-40B4-BE49-F238E27FC236}">
                <a16:creationId xmlns:a16="http://schemas.microsoft.com/office/drawing/2014/main" id="{C09F542F-98BB-D346-4390-3D0343D3CB97}"/>
              </a:ext>
            </a:extLst>
          </p:cNvPr>
          <p:cNvGrpSpPr/>
          <p:nvPr/>
        </p:nvGrpSpPr>
        <p:grpSpPr>
          <a:xfrm>
            <a:off x="12077700" y="-735"/>
            <a:ext cx="6205903" cy="3719626"/>
            <a:chOff x="1028700" y="2334960"/>
            <a:chExt cx="2331529" cy="969736"/>
          </a:xfrm>
        </p:grpSpPr>
        <p:sp>
          <p:nvSpPr>
            <p:cNvPr id="5" name="Freeform 7">
              <a:extLst>
                <a:ext uri="{FF2B5EF4-FFF2-40B4-BE49-F238E27FC236}">
                  <a16:creationId xmlns:a16="http://schemas.microsoft.com/office/drawing/2014/main" id="{4229D5A8-C1DF-109F-B436-C63081485BE4}"/>
                </a:ext>
              </a:extLst>
            </p:cNvPr>
            <p:cNvSpPr/>
            <p:nvPr/>
          </p:nvSpPr>
          <p:spPr>
            <a:xfrm>
              <a:off x="1028700" y="2334960"/>
              <a:ext cx="2331529" cy="969736"/>
            </a:xfrm>
            <a:custGeom>
              <a:avLst/>
              <a:gdLst/>
              <a:ahLst/>
              <a:cxnLst/>
              <a:rect l="l" t="t" r="r" b="b"/>
              <a:pathLst>
                <a:path w="2331529" h="969736">
                  <a:moveTo>
                    <a:pt x="0" y="0"/>
                  </a:moveTo>
                  <a:lnTo>
                    <a:pt x="2331529" y="0"/>
                  </a:lnTo>
                  <a:lnTo>
                    <a:pt x="2331529" y="969736"/>
                  </a:lnTo>
                  <a:lnTo>
                    <a:pt x="0" y="969736"/>
                  </a:lnTo>
                  <a:close/>
                </a:path>
              </a:pathLst>
            </a:custGeom>
            <a:blipFill>
              <a:blip r:embed="rId2"/>
              <a:stretch>
                <a:fillRect t="-29997" b="-29997"/>
              </a:stretch>
            </a:blipFill>
          </p:spPr>
          <p:txBody>
            <a:bodyPr/>
            <a:lstStyle/>
            <a:p>
              <a:endParaRPr lang="en-US"/>
            </a:p>
          </p:txBody>
        </p:sp>
      </p:grpSp>
    </p:spTree>
    <p:extLst>
      <p:ext uri="{BB962C8B-B14F-4D97-AF65-F5344CB8AC3E}">
        <p14:creationId xmlns:p14="http://schemas.microsoft.com/office/powerpoint/2010/main" val="14860606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515" t="-15780" b="-8201"/>
            </a:stretch>
          </a:blipFill>
        </p:spPr>
      </p:sp>
      <p:sp>
        <p:nvSpPr>
          <p:cNvPr id="3" name="TextBox 3"/>
          <p:cNvSpPr txBox="1"/>
          <p:nvPr/>
        </p:nvSpPr>
        <p:spPr>
          <a:xfrm>
            <a:off x="4266863" y="3881488"/>
            <a:ext cx="9754273" cy="1813268"/>
          </a:xfrm>
          <a:prstGeom prst="rect">
            <a:avLst/>
          </a:prstGeom>
        </p:spPr>
        <p:txBody>
          <a:bodyPr lIns="0" tIns="0" rIns="0" bIns="0" rtlCol="0" anchor="t">
            <a:spAutoFit/>
          </a:bodyPr>
          <a:lstStyle/>
          <a:p>
            <a:pPr algn="ctr">
              <a:lnSpc>
                <a:spcPts val="13266"/>
              </a:lnSpc>
            </a:pPr>
            <a:r>
              <a:rPr lang="en-US" sz="14578" b="1" spc="-1137">
                <a:solidFill>
                  <a:srgbClr val="F6E5D7"/>
                </a:solidFill>
                <a:latin typeface="Garet Bold"/>
                <a:ea typeface="Garet Bold"/>
                <a:cs typeface="Garet Bold"/>
                <a:sym typeface="Garet Bold"/>
              </a:rPr>
              <a:t>Thank You</a:t>
            </a:r>
          </a:p>
        </p:txBody>
      </p:sp>
      <p:grpSp>
        <p:nvGrpSpPr>
          <p:cNvPr id="4" name="Group 4"/>
          <p:cNvGrpSpPr/>
          <p:nvPr/>
        </p:nvGrpSpPr>
        <p:grpSpPr>
          <a:xfrm>
            <a:off x="-573486" y="5415786"/>
            <a:ext cx="19434973" cy="1101982"/>
            <a:chOff x="0" y="-28575"/>
            <a:chExt cx="5118676" cy="290234"/>
          </a:xfrm>
        </p:grpSpPr>
        <p:sp>
          <p:nvSpPr>
            <p:cNvPr id="5" name="Freeform 5"/>
            <p:cNvSpPr/>
            <p:nvPr/>
          </p:nvSpPr>
          <p:spPr>
            <a:xfrm>
              <a:off x="152700" y="26177"/>
              <a:ext cx="4813276" cy="235482"/>
            </a:xfrm>
            <a:custGeom>
              <a:avLst/>
              <a:gdLst/>
              <a:ahLst/>
              <a:cxnLst/>
              <a:rect l="l" t="t" r="r" b="b"/>
              <a:pathLst>
                <a:path w="5118676" h="257296">
                  <a:moveTo>
                    <a:pt x="0" y="0"/>
                  </a:moveTo>
                  <a:lnTo>
                    <a:pt x="5118676" y="0"/>
                  </a:lnTo>
                  <a:lnTo>
                    <a:pt x="5118676" y="257296"/>
                  </a:lnTo>
                  <a:lnTo>
                    <a:pt x="0" y="257296"/>
                  </a:lnTo>
                  <a:close/>
                </a:path>
              </a:pathLst>
            </a:custGeom>
            <a:solidFill>
              <a:srgbClr val="D68E4A"/>
            </a:solidFill>
          </p:spPr>
        </p:sp>
        <p:sp>
          <p:nvSpPr>
            <p:cNvPr id="6" name="TextBox 6"/>
            <p:cNvSpPr txBox="1"/>
            <p:nvPr/>
          </p:nvSpPr>
          <p:spPr>
            <a:xfrm>
              <a:off x="0" y="-28575"/>
              <a:ext cx="5118676" cy="285871"/>
            </a:xfrm>
            <a:prstGeom prst="rect">
              <a:avLst/>
            </a:prstGeom>
          </p:spPr>
          <p:txBody>
            <a:bodyPr lIns="50800" tIns="50800" rIns="50800" bIns="50800" rtlCol="0" anchor="ctr"/>
            <a:lstStyle/>
            <a:p>
              <a:pPr algn="ctr">
                <a:lnSpc>
                  <a:spcPts val="2357"/>
                </a:lnSpc>
              </a:pPr>
              <a:endParaRPr/>
            </a:p>
          </p:txBody>
        </p:sp>
      </p:grpSp>
      <p:sp>
        <p:nvSpPr>
          <p:cNvPr id="7" name="TextBox 7"/>
          <p:cNvSpPr txBox="1"/>
          <p:nvPr/>
        </p:nvSpPr>
        <p:spPr>
          <a:xfrm>
            <a:off x="6203460" y="5628081"/>
            <a:ext cx="5881080" cy="702646"/>
          </a:xfrm>
          <a:prstGeom prst="rect">
            <a:avLst/>
          </a:prstGeom>
        </p:spPr>
        <p:txBody>
          <a:bodyPr lIns="0" tIns="0" rIns="0" bIns="0" rtlCol="0" anchor="t">
            <a:spAutoFit/>
          </a:bodyPr>
          <a:lstStyle/>
          <a:p>
            <a:pPr algn="ctr">
              <a:lnSpc>
                <a:spcPts val="5896"/>
              </a:lnSpc>
            </a:pPr>
            <a:r>
              <a:rPr lang="en-US" sz="4211" i="1" spc="-387">
                <a:solidFill>
                  <a:srgbClr val="F6E5D7"/>
                </a:solidFill>
                <a:latin typeface="Garet Italics"/>
                <a:ea typeface="Garet Italics"/>
                <a:cs typeface="Garet Italics"/>
                <a:sym typeface="Garet Italics"/>
              </a:rPr>
              <a:t>For Your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335</TotalTime>
  <Words>1126</Words>
  <Application>Microsoft Office PowerPoint</Application>
  <PresentationFormat>Custom</PresentationFormat>
  <Paragraphs>71</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Garet Bold</vt:lpstr>
      <vt:lpstr>Calibri</vt:lpstr>
      <vt:lpstr>Consolas</vt:lpstr>
      <vt:lpstr>Garet Italics</vt:lpstr>
      <vt:lpstr>Arial</vt:lpstr>
      <vt:lpstr>Office Theme</vt:lpstr>
      <vt:lpstr>PowerPoint Presentation</vt:lpstr>
      <vt:lpstr>OBJECTIVE</vt:lpstr>
      <vt:lpstr>DATA UNDERSTANDING</vt:lpstr>
      <vt:lpstr>PowerPoint Presentation</vt:lpstr>
      <vt:lpstr>TOOLS USED</vt:lpstr>
      <vt:lpstr>PowerPoint Presentation</vt:lpstr>
      <vt:lpstr>PowerPoint Presentation</vt:lpstr>
      <vt:lpstr>PowerPoint Presentation</vt:lpstr>
      <vt:lpstr>PowerPoint Presentation</vt:lpstr>
      <vt:lpstr>                       UNIVARIATE ANALYSIS</vt:lpstr>
      <vt:lpstr>BIVARIATE ANALYSIS</vt:lpstr>
      <vt:lpstr>MULTIVARIATE ANALYSIS</vt:lpstr>
      <vt:lpstr>PowerPoint Presentation</vt:lpstr>
      <vt:lpstr>PowerPoint Presentation</vt:lpstr>
      <vt:lpstr>      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Yellow Gradient Modern Coffee Presentation</dc:title>
  <cp:lastModifiedBy>vaishnavictr2001@gmail.com</cp:lastModifiedBy>
  <cp:revision>697</cp:revision>
  <dcterms:created xsi:type="dcterms:W3CDTF">2006-08-16T00:00:00Z</dcterms:created>
  <dcterms:modified xsi:type="dcterms:W3CDTF">2025-11-28T15:24:47Z</dcterms:modified>
  <dc:identifier>DAG55CFViZo</dc:identifier>
</cp:coreProperties>
</file>